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5ED99-62A4-46F2-9F46-55603F3FE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40" y="2002631"/>
            <a:ext cx="3308380" cy="2852737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>
            <a:lvl1pPr algn="ctr">
              <a:buNone/>
              <a:defRPr sz="5400" b="1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D3109F25-19F0-4017-A1FF-D0066F268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3062" y="992584"/>
            <a:ext cx="6838426" cy="4872830"/>
          </a:xfrm>
        </p:spPr>
        <p:txBody>
          <a:bodyPr anchor="ctr">
            <a:normAutofit/>
          </a:bodyPr>
          <a:lstStyle>
            <a:lvl1pPr marL="514350" indent="-514350">
              <a:buChar char="p"/>
              <a:defRPr sz="3200">
                <a:latin typeface="Calibri"/>
                <a:ea typeface="Calibri"/>
                <a:cs typeface="Calibri"/>
              </a:defRPr>
            </a:lvl1pPr>
            <a:lvl2pPr marL="971550" indent="-514350">
              <a:buChar char="p"/>
              <a:defRPr sz="2800">
                <a:latin typeface="Calibri"/>
                <a:ea typeface="Calibri"/>
                <a:cs typeface="Calibri"/>
              </a:defRPr>
            </a:lvl2pPr>
            <a:lvl3pPr marL="1371600" indent="-457200">
              <a:buChar char="p"/>
              <a:defRPr sz="2400">
                <a:latin typeface="Calibri"/>
                <a:ea typeface="Calibri"/>
                <a:cs typeface="Calibri"/>
              </a:defRPr>
            </a:lvl3pPr>
            <a:lvl4pPr marL="1828800" indent="-457200">
              <a:buChar char="p"/>
              <a:defRPr sz="2000">
                <a:latin typeface="Calibri"/>
                <a:ea typeface="Calibri"/>
                <a:cs typeface="Calibri"/>
              </a:defRPr>
            </a:lvl4pPr>
            <a:lvl5pPr marL="2286000" indent="-457200">
              <a:buChar char="p"/>
              <a:defRPr sz="2000">
                <a:latin typeface="Calibri"/>
                <a:ea typeface="Calibri"/>
                <a:cs typeface="Calibri"/>
              </a:defRPr>
            </a:lvl5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44A06-9131-4424-AD90-57398E34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846"/>
            <a:ext cx="11096625" cy="800101"/>
          </a:xfrm>
        </p:spPr>
        <p:txBody>
          <a:bodyPr anchor="ctr">
            <a:normAutofit/>
          </a:bodyPr>
          <a:lstStyle>
            <a:lvl1pPr>
              <a:buNone/>
              <a:defRPr sz="4000" b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B26F4D-21E3-4EBB-9E01-105FA2C07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98411"/>
            <a:ext cx="11096625" cy="5078552"/>
          </a:xfrm>
        </p:spPr>
        <p:txBody>
          <a:bodyPr/>
          <a:lstStyle>
            <a:lvl1pPr marL="228600" indent="-228600">
              <a:lnSpc>
                <a:spcPct val="100000"/>
              </a:lnSpc>
              <a:buChar char="•"/>
              <a:defRPr b="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685800" indent="-228600">
              <a:lnSpc>
                <a:spcPct val="100000"/>
              </a:lnSpc>
              <a:buChar char="•"/>
              <a:defRPr b="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lnSpc>
                <a:spcPct val="100000"/>
              </a:lnSpc>
              <a:buChar char="•"/>
              <a:defRPr b="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lnSpc>
                <a:spcPct val="100000"/>
              </a:lnSpc>
              <a:buChar char="•"/>
              <a:defRPr b="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lnSpc>
                <a:spcPct val="100000"/>
              </a:lnSpc>
              <a:buChar char="•"/>
              <a:defRPr b="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</a:lstStyle>
          <a:p>
            <a:endParaRPr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2822EC63-763E-4A56-A960-E849558D40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04800" y="6242050"/>
            <a:ext cx="2743200" cy="365125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  <a:latin typeface="等线"/>
                <a:ea typeface="等线"/>
                <a:cs typeface="等线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6FC88E8A-D8D7-400C-9A89-475244B4B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803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35691E-0EE4-4392-A147-75A16C0E8F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39F2A4-AB55-4C54-B129-937D5A5B3C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847D1501-AB38-4511-91A5-004C71828D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8232EBC6-750B-4E12-AFC4-A423F7DCB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0471"/>
            <a:ext cx="9144000" cy="2387600"/>
          </a:xfrm>
        </p:spPr>
        <p:txBody>
          <a:bodyPr anchor="b"/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75E2099-E7D5-42F9-8C77-AF95F8DEC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D727F7-6715-44E8-A61F-1FD693F8C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8A847B-B3CA-4298-A718-13BE261038C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Lantinghei SC Demibold"/>
                <a:ea typeface="Lantinghei SC Demibold"/>
                <a:cs typeface="Lantinghei SC Demibold"/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E95D48-8367-4925-B723-7F07E6A7FE2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Lantinghei SC Demibold"/>
                <a:ea typeface="Lantinghei SC Demibold"/>
                <a:cs typeface="Lantinghei SC Demibold"/>
              </a:defRPr>
            </a:lvl1pPr>
          </a:lstStyle>
          <a:p>
            <a:endParaRPr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EC51830A-C719-4371-8BAA-2BD699FBE10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Lantinghei SC Demibold"/>
                <a:ea typeface="Lantinghei SC Demibold"/>
                <a:cs typeface="Lantinghei SC Demibold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Lantinghei SC Demibold"/>
          <a:ea typeface="Lantinghei SC Demibold"/>
          <a:cs typeface="Lantinghei SC Demibold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Lantinghei SC Demibold"/>
          <a:ea typeface="Lantinghei SC Demibold"/>
          <a:cs typeface="Lantinghei SC Demibold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Lantinghei SC Demibold"/>
          <a:ea typeface="Lantinghei SC Demibold"/>
          <a:cs typeface="Lantinghei SC Demibold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Lantinghei SC Demibold"/>
          <a:ea typeface="Lantinghei SC Demibold"/>
          <a:cs typeface="Lantinghei SC Demibold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antinghei SC Demibold"/>
          <a:ea typeface="Lantinghei SC Demibold"/>
          <a:cs typeface="Lantinghei SC Demibold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antinghei SC Demibold"/>
          <a:ea typeface="Lantinghei SC Demibold"/>
          <a:cs typeface="Lantinghei SC Demibold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11B3AE6-3A9F-4472-AB47-D79BAB7210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2FEBF3-EB20-4DE0-AFF6-47C521190F54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125200" y="95250"/>
            <a:ext cx="723900" cy="723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2071" y="1503482"/>
            <a:ext cx="914400" cy="9144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23CF717-AF65-49C0-932D-1CBC7BD617DB}"/>
              </a:ext>
            </a:extLst>
          </p:cNvPr>
          <p:cNvSpPr>
            <a:spLocks noGrp="1"/>
          </p:cNvSpPr>
          <p:nvPr/>
        </p:nvSpPr>
        <p:spPr>
          <a:xfrm>
            <a:off x="1455553" y="2571750"/>
            <a:ext cx="9280894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基于大语言模型的</a:t>
            </a:r>
            <a:endParaRPr sz="3600" b="1" dirty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日本文学分级阅读材料生成研究</a:t>
            </a:r>
            <a:r>
              <a:rPr lang="en-US" sz="3600" b="1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与流水线设计</a:t>
            </a:r>
            <a:endParaRPr sz="3600" b="1" dirty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664A6B-082A-4E9A-8FB4-531BF70ABD5E}"/>
              </a:ext>
            </a:extLst>
          </p:cNvPr>
          <p:cNvSpPr>
            <a:spLocks noGrp="1"/>
          </p:cNvSpPr>
          <p:nvPr/>
        </p:nvSpPr>
        <p:spPr>
          <a:xfrm>
            <a:off x="9247224" y="4729439"/>
            <a:ext cx="6858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725" b="0" dirty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汇报人：封帆</a:t>
            </a:r>
            <a:endParaRPr lang="en-US" altLang="zh-CN" sz="1725" b="0" dirty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7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2026.5</a:t>
            </a:r>
            <a:r>
              <a:rPr lang="en-US" sz="1725" dirty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.26</a:t>
            </a:r>
            <a:endParaRPr sz="1725" b="0" dirty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996140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2CC0BF1-0295-48F2-A1CB-06F8661026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940F39-7179-4A79-85EF-B1B6322F7FF8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61C0DC-AEC5-406A-86CD-C7A448115098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CE1601-40DB-458F-A238-2E049F49B273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400" b="1" dirty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发表目录：</a:t>
            </a:r>
            <a:endParaRPr sz="2400" b="1" dirty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A2526C-4E31-4652-A3EC-2334D9A7FBE1}"/>
              </a:ext>
            </a:extLst>
          </p:cNvPr>
          <p:cNvSpPr>
            <a:spLocks noGrp="1"/>
          </p:cNvSpPr>
          <p:nvPr/>
        </p:nvSpPr>
        <p:spPr>
          <a:xfrm>
            <a:off x="571500" y="1695007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1. </a:t>
            </a:r>
            <a:r>
              <a:rPr sz="1725" b="0" dirty="0" err="1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分级阅读的概念、意义与目标</a:t>
            </a:r>
            <a:endParaRPr sz="1725" b="0" dirty="0">
              <a:solidFill>
                <a:srgbClr val="111111"/>
              </a:solidFill>
              <a:latin typeface="+mj-ea"/>
              <a:ea typeface="+mj-ea"/>
              <a:cs typeface="PingFang SC"/>
            </a:endParaRPr>
          </a:p>
          <a:p>
            <a:pPr algn="l">
              <a:lnSpc>
                <a:spcPct val="150000"/>
              </a:lnSpc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2. </a:t>
            </a:r>
            <a:r>
              <a:rPr sz="1725" b="0" dirty="0" err="1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现有</a:t>
            </a:r>
            <a:r>
              <a:rPr sz="1725" b="0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 LLM </a:t>
            </a:r>
            <a:r>
              <a:rPr sz="1725" b="0" dirty="0" err="1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方法的局限与研究突破口</a:t>
            </a:r>
            <a:endParaRPr sz="1725" b="0" dirty="0">
              <a:solidFill>
                <a:srgbClr val="111111"/>
              </a:solidFill>
              <a:latin typeface="+mj-ea"/>
              <a:ea typeface="+mj-ea"/>
              <a:cs typeface="PingFang SC"/>
            </a:endParaRPr>
          </a:p>
          <a:p>
            <a:pPr algn="l">
              <a:lnSpc>
                <a:spcPct val="150000"/>
              </a:lnSpc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3. </a:t>
            </a:r>
            <a:r>
              <a:rPr sz="1725" b="0" dirty="0" err="1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先前研究：可读性控制、日语平易化、文档级简化</a:t>
            </a:r>
            <a:endParaRPr sz="1725" b="0" dirty="0">
              <a:solidFill>
                <a:srgbClr val="111111"/>
              </a:solidFill>
              <a:latin typeface="+mj-ea"/>
              <a:ea typeface="+mj-ea"/>
              <a:cs typeface="PingFang SC"/>
            </a:endParaRPr>
          </a:p>
          <a:p>
            <a:pPr algn="l">
              <a:lnSpc>
                <a:spcPct val="150000"/>
              </a:lnSpc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4. </a:t>
            </a:r>
            <a:r>
              <a:rPr lang="zh-CN" altLang="en-US" sz="1725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本研究所设计的</a:t>
            </a:r>
            <a:r>
              <a:rPr sz="1725" b="0" dirty="0" err="1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流水线：从</a:t>
            </a:r>
            <a:r>
              <a:rPr sz="1725" b="0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 chunk </a:t>
            </a:r>
            <a:r>
              <a:rPr sz="1725" b="0" dirty="0" err="1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到</a:t>
            </a:r>
            <a:r>
              <a:rPr sz="1725" b="0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 validation</a:t>
            </a:r>
          </a:p>
          <a:p>
            <a:pPr algn="l">
              <a:lnSpc>
                <a:spcPct val="150000"/>
              </a:lnSpc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5. </a:t>
            </a:r>
            <a:r>
              <a:rPr sz="1725" b="0" dirty="0" err="1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实验设计、评价维度与可复现性</a:t>
            </a:r>
            <a:endParaRPr sz="1725" b="0" dirty="0">
              <a:solidFill>
                <a:srgbClr val="111111"/>
              </a:solidFill>
              <a:latin typeface="+mj-ea"/>
              <a:ea typeface="+mj-ea"/>
              <a:cs typeface="PingFang SC"/>
            </a:endParaRPr>
          </a:p>
          <a:p>
            <a:pPr algn="l">
              <a:lnSpc>
                <a:spcPct val="150000"/>
              </a:lnSpc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6. </a:t>
            </a:r>
            <a:r>
              <a:rPr lang="zh-CN" altLang="en-US" sz="1725" b="0" dirty="0">
                <a:solidFill>
                  <a:srgbClr val="111111"/>
                </a:solidFill>
                <a:latin typeface="+mj-ea"/>
                <a:ea typeface="+mj-ea"/>
                <a:cs typeface="PingFang SC"/>
              </a:rPr>
              <a:t>不足与展望</a:t>
            </a:r>
            <a:endParaRPr sz="1725" b="0" dirty="0">
              <a:solidFill>
                <a:srgbClr val="111111"/>
              </a:solidFill>
              <a:latin typeface="+mj-ea"/>
              <a:ea typeface="+mj-ea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04CD028-3FD2-4A41-8B99-179F1CE0F6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885EC5-40A5-444E-B1E1-F1E1C225EF20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ED7F3B-BC9A-4ECF-8279-23EF8D6BE246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01C9C63-29D3-4C05-8E2B-533FDD52600D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研究问题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493978-42EC-4718-85AF-6B53609102B0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11049000" cy="390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本研究不只是“把小说改简单</a:t>
            </a:r>
            <a:r>
              <a:rPr sz="1875" b="0" dirty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”。</a:t>
            </a:r>
          </a:p>
          <a:p>
            <a:pPr algn="l"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核心问题是：如何把日语文学作品改编为目标等级读者可读的分级材料，同时保留情节、人物关系、叙事语气与文学性</a:t>
            </a:r>
            <a:r>
              <a:rPr sz="1875" b="0" dirty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。</a:t>
            </a:r>
          </a:p>
          <a:p>
            <a:endParaRPr sz="1875" b="0" dirty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dirty="0" err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目标等级不是主动制造难度，而是控制读者的理解负荷上限</a:t>
            </a:r>
            <a:r>
              <a:rPr sz="1875" b="0" dirty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4747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43D199E-39EE-4872-9AFB-A31282154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460234-BDD1-4B77-ABC1-9ECE611D6D1B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990F70-3874-4072-A1DF-84741536BE46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343FF48-C266-4D44-B098-084685695338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分级阅读的意义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43A42D-A1FE-4454-AB24-66A3496C7D79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分级阅读把原本超出学习者能力的文本调整到可理解区间。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对日语学习者而言，它可以连接教材日语与真实文学日语。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文学改编的价值不只在词汇训练，也在持续阅读、文化理解、叙事体验和审美接触。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本文以 JLPT N1-N5 作为说明用等级框架，但不把 JLPT 看成封闭词表。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AD8884F-5141-4E86-9E01-D271BF74CA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DD95AE-C2CA-4754-9F67-0DECF2B6F190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2107CC-8085-42E2-9DD1-76C536EAA412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0700DE9-14E0-4883-BFE1-909036868F65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输入与输出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624056-911B-4FB2-981D-F39BFF7DA0A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输入：日本文学原文、章节/段落边界、目标等级、可选读者词汇量、注释策略。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输出：改编后的 scene 文本、点对点注释、难度验证报告、Story Bible 更新、token 与成本日志。</a:t>
            </a:r>
          </a:p>
          <a:p>
            <a:endParaRPr sz="1725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可展示数据结构：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原文 span → 改编句 → 注释 → validation score → revision history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B095983-3D98-48CE-9999-E797F107C2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6B0C17-A27E-4DEB-8788-28FFAC0484C1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FB8783-F917-4B0E-9569-64A3EA32D3B0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9A94F57-5B9B-422C-9575-DA25E1B1257B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改编质量要求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6E6AD3-DA59-42A9-86C1-A1727EF14FB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等级适切：语法尽量在目标范围内，难词有替换或注释。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内容忠实：不把场景改成摘要，不漏掉关键情节和心理变化。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文学性：保留叙述视角、人物声音、意象和节奏。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学习辅助：furigana、短注释、文化词解释、阅读问题可按需生成。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FE35F97-DE4F-4223-9847-C043AA2C6B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43BAE0-8160-4459-B24C-F80010F36B9A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77BC75-29EA-4497-A29A-D3AB70C03281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F98B783-24AB-4E43-B84E-E9D1C2F78925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LLM 的典型失败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EBC0E0-7BD2-443C-A488-37BA67FCA2F0}"/>
              </a:ext>
            </a:extLst>
          </p:cNvPr>
          <p:cNvSpPr>
            <a:spLocks noGrp="1"/>
          </p:cNvSpPr>
          <p:nvPr/>
        </p:nvSpPr>
        <p:spPr>
          <a:xfrm>
            <a:off x="5953125" y="1714500"/>
            <a:ext cx="28575" cy="41433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8A55D8-807F-4685-9495-54BC9EF76342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直接提示的风险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“请改成 N3”容易被模型理解成泛化任务：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长文被压成梗概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人物关系前后漂移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文体忽然变口语或儿童化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难度判断每次不稳定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4329F0-FF8E-4918-AE10-3DCE4348497A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最新设计关注的风险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“请改成 N1”也可能诱发过度改写：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私は先生の家へ行きました。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私は先生の住居を訪れることとなった。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这不是分级改编，而是主动增难。</a:t>
            </a:r>
          </a:p>
        </p:txBody>
      </p:sp>
    </p:spTree>
    <p:extLst>
      <p:ext uri="{BB962C8B-B14F-4D97-AF65-F5344CB8AC3E}">
        <p14:creationId xmlns:p14="http://schemas.microsoft.com/office/powerpoint/2010/main" val="54814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A6EFB16-71AD-4A4A-94BE-0631BBF442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384B67-A1F2-4017-9B17-4F17283339A8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AEAB44-68BC-44A1-AA95-E216CD4ECB73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E6B267-3AB9-464A-8A9B-57C7007B766D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先前研究基础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62629D-BDD2-4508-8916-FC2B3FF135D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可读性控制：TSAR 2025 将文本简化明确对齐 CEFR 等级。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LLM 分级生成：leveled-text generation 证明 few-shot 可改善等级控制。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文档级简化：ProgDS 等工作指出长文简化容易变摘要，需要分阶段处理。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日语资源：JADOS/JADES、jReadability 等为日语平易化和难度评估提供基础。</a:t>
            </a:r>
          </a:p>
        </p:txBody>
      </p:sp>
    </p:spTree>
    <p:extLst>
      <p:ext uri="{BB962C8B-B14F-4D97-AF65-F5344CB8AC3E}">
        <p14:creationId xmlns:p14="http://schemas.microsoft.com/office/powerpoint/2010/main" val="3757343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B88B5F9-EB05-44BE-8A34-650D8FA2CE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F1C984-5AEB-4A32-BC7B-A3A5503AE406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1F37B1-F660-4B9E-AAF7-2BC0EF9FA920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833F921-02C2-4A47-BC3E-A90FCD2942CB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研究空白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43A3E2-313D-43CA-B53C-583DAC0E855C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11049000" cy="390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已有工作多集中在英语、短文本、说明文或新闻。</a:t>
            </a:r>
          </a:p>
          <a:p>
            <a:pPr algn="l"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尚缺少一个面向日语长篇文学的系统：</a:t>
            </a:r>
          </a:p>
          <a:p>
            <a:pPr algn="l"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既能处理章节/场景级结构，又能控制 N1-N5 目标等级，还能解释为什么某些文学词应保留、为什么某些语法必须拆分。</a:t>
            </a:r>
          </a:p>
        </p:txBody>
      </p:sp>
    </p:spTree>
    <p:extLst>
      <p:ext uri="{BB962C8B-B14F-4D97-AF65-F5344CB8AC3E}">
        <p14:creationId xmlns:p14="http://schemas.microsoft.com/office/powerpoint/2010/main" val="1814747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99B3A82-C0CD-42AA-A5FF-258837235E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AE35D1-E9AB-4506-8BA4-993A5DB4FF51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4AC2FF-4886-4796-BF8E-40A68AA3CEB9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474A92E-4046-4512-92AC-5541D838D4A2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SAGAP 流水线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D7B383-415A-433A-B134-F2D064196C82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SAGAP = Story-Aware Graded Adaptation Pipeline</a:t>
            </a:r>
          </a:p>
          <a:p>
            <a:endParaRPr sz="1725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原文输入 → 章节/场景 chunking → Story Bible → Scene Plan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最小必要改写判断 → 等级改编 → 注释生成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微观 validation → 宏观 validation → 局部修正 → 输出与日志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C4A32A0-F63D-48CB-932F-45E55E6B9A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8F3354-6332-4CAC-9128-F29A11B44CCD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085AE1-2A2B-4E9A-BFA3-CD47F79DD18A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E352663-B730-4BC0-9A1D-9BF1543B1022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Chunking：叙事单位优先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011FAB-E5AF-4C6E-BD24-0F7A4BDE214E}"/>
              </a:ext>
            </a:extLst>
          </p:cNvPr>
          <p:cNvSpPr>
            <a:spLocks noGrp="1"/>
          </p:cNvSpPr>
          <p:nvPr/>
        </p:nvSpPr>
        <p:spPr>
          <a:xfrm>
            <a:off x="5953125" y="1714500"/>
            <a:ext cx="28575" cy="41433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B80D08-BE42-4CC6-9724-C21D87365589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不建议只按字数切分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固定 2000 字切分会打断对话、心理变化、地点转换或象征意象。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长篇文学的基本单位应是 scene，而不是任意 token block。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F56E5C-31E5-4AD2-9619-CE4F49733AE1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建议结构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Book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Chapter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Scene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Paragraph Group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Sentence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Scene 定义：时间、地点、人物、叙事目标相对稳定的一段文本。</a:t>
            </a:r>
          </a:p>
        </p:txBody>
      </p:sp>
    </p:spTree>
    <p:extLst>
      <p:ext uri="{BB962C8B-B14F-4D97-AF65-F5344CB8AC3E}">
        <p14:creationId xmlns:p14="http://schemas.microsoft.com/office/powerpoint/2010/main" val="548140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3B369D9-BB54-4352-B59B-9A36777EDA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492CBB-312A-4FAC-8D0B-CA35195D8C15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4D209A-7489-49AA-ACB9-CDA992753768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C0BE099-83C7-4291-A2B0-B6C16C5A9567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Story Bible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4DC364-C8C1-405F-BD10-A22CA65C0180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Story Bible 负责长期一致性：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人物：姓名、称呼、关系、语气、心理变化。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地点与时代：下宿、縁側、仏壇 等文化背景。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事件线：每个 scene 的功能、因果关系、伏笔。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文学要素：反复意象、主题词、叙述视角。</a:t>
            </a:r>
          </a:p>
          <a:p>
            <a:endParaRPr sz="1725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每次 LLM 调用只载入相关条目，避免上下文无限膨胀。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10892B-CF3C-44C8-BC72-326BB483BD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959B5E-EF38-4FF0-8139-096CC6C08B8A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22527D-923A-426B-99BE-FED12FA59C1B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2163714-336F-4A0E-A71E-02420B5362B5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Level Profile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4599C9-7F7C-4772-8723-58DE51B921C5}"/>
              </a:ext>
            </a:extLst>
          </p:cNvPr>
          <p:cNvSpPr>
            <a:spLocks noGrp="1"/>
          </p:cNvSpPr>
          <p:nvPr/>
        </p:nvSpPr>
        <p:spPr>
          <a:xfrm>
            <a:off x="5953125" y="1714500"/>
            <a:ext cx="28575" cy="41433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B02009-ED0E-4341-B754-09F214E8308F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语法 profile：相对严格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目标等级应规定：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可优先使用的语法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应避免的复杂结构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最大从句深度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长连体修饰是否拆分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复杂语法通常应改写。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7BA542-E727-4231-BD73-1A949F44CB51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词汇 profile：半严格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词汇不宜做绝对白名单。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文学主题词、文化词、专名可以保留：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罪悪感、沈黙、鎌倉、縁側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但必须通过 furigana 或短注释兜底。</a:t>
            </a:r>
          </a:p>
        </p:txBody>
      </p:sp>
    </p:spTree>
    <p:extLst>
      <p:ext uri="{BB962C8B-B14F-4D97-AF65-F5344CB8AC3E}">
        <p14:creationId xmlns:p14="http://schemas.microsoft.com/office/powerpoint/2010/main" val="548140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59094E0-251C-468D-A375-E66D6D5ED7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1C8723-BCE0-4196-854C-A36B8761DC5D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D6D9FA-8B31-4A7A-9E65-C3A36A1C7921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B4D7DE6-7099-4C06-BB54-10C3300EB029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最小必要改写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9E48AD-77C1-431C-A86E-7EEE9F1E1C87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Minimum Necessary Adaptation：只修改会阻碍目标读者理解的部分。</a:t>
            </a:r>
          </a:p>
          <a:p>
            <a:endParaRPr sz="1725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判断动作：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KEEP：原文已适合目标等级，尽量保留。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ANNOTATE：词重要但超纲，保留并注释。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REWRITE：普通难词或复杂表达可替换。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SPLIT：句法负担高，拆分长句。</a:t>
            </a:r>
          </a:p>
          <a:p>
            <a:endParaRPr sz="1725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这能防止 N1 版本把简单原文强行改难。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3C7F306-BE2C-4993-B6E1-BDA7DF17EF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91A3AB-C720-40ED-9113-CCB8E3E1AE66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4A5D9D-F508-46A1-A768-BB3492978B7E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5A450FF-9F9C-4C91-970D-7DA80E5D62BB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Prompt 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ABFACC-2DEE-4DEB-9946-256BB42EAA9D}"/>
              </a:ext>
            </a:extLst>
          </p:cNvPr>
          <p:cNvSpPr>
            <a:spLocks noGrp="1"/>
          </p:cNvSpPr>
          <p:nvPr/>
        </p:nvSpPr>
        <p:spPr>
          <a:xfrm>
            <a:off x="5953125" y="1714500"/>
            <a:ext cx="28575" cy="41433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5E521E-614F-493E-ACB1-DC99F7BDA792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生成前先写 Scene Plan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本 scene 的叙事功能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必须保留的事件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人物心理变化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可替换词与应保留词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不能摘要化的段落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6C0711-3238-4263-A8F4-76A1314DCEA3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再做等级改编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Prompt 中明确：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目标等级是上限，不是目标难度。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保留文学气氛，不儿童化。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超纲但重要的词可以保留并注释。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输出必须是结构化 JSON。</a:t>
            </a:r>
          </a:p>
        </p:txBody>
      </p:sp>
    </p:spTree>
    <p:extLst>
      <p:ext uri="{BB962C8B-B14F-4D97-AF65-F5344CB8AC3E}">
        <p14:creationId xmlns:p14="http://schemas.microsoft.com/office/powerpoint/2010/main" val="548140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A0EC1EE-4CEC-402A-AD5D-489F56214E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E20D63-BB7D-4F49-B5F4-BDA97654DDCB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E1F08A-227F-4CCE-876F-6821C8342A4E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162E7E7-2B33-4E16-B1FD-CC9131D43E63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点对点注释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1C03A3-4797-4C32-81A7-EC402C152EFA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注释应绑定到具体 span，而不是只做篇末词汇表。</a:t>
            </a:r>
          </a:p>
          <a:p>
            <a:endParaRPr sz="1425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{</a:t>
            </a:r>
          </a:p>
          <a:p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annotation_id: "ann_001",</a:t>
            </a:r>
          </a:p>
          <a:p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scene_id: "ch01_sc03",</a:t>
            </a:r>
          </a:p>
          <a:p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target_text: "罪悪感",</a:t>
            </a:r>
          </a:p>
          <a:p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reading: "ざいあくかん",</a:t>
            </a:r>
          </a:p>
          <a:p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explanation: "悪いことをしたと思って苦しくなる気持ち",</a:t>
            </a:r>
          </a:p>
          <a:p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reason: "theme_keyword",</a:t>
            </a:r>
          </a:p>
          <a:p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level_estimate: "N2+"</a:t>
            </a:r>
          </a:p>
          <a:p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BFC3C1B-534B-4A22-B1B1-02EC56CB02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DFF6FB-FC72-4E46-9295-B95F33FE35BF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5FFE2D-EFE8-4107-BA68-57381C93825C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1F2694F-94EC-412D-8853-C0969EAABF4B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Validation 三层结构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5C0BCD-B541-4C22-B30D-C879E29C083A}"/>
              </a:ext>
            </a:extLst>
          </p:cNvPr>
          <p:cNvSpPr>
            <a:spLocks noGrp="1"/>
          </p:cNvSpPr>
          <p:nvPr/>
        </p:nvSpPr>
        <p:spPr>
          <a:xfrm>
            <a:off x="5953125" y="1714500"/>
            <a:ext cx="28575" cy="41433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CBE406-202D-41AC-B1FE-DC89EAE5CCBC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微观验证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词汇超纲率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语法 profile 违规数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句长与从句深度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汉字/抽象词负担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注释覆盖率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331752-9876-4D12-AFDA-03E0D2F99F18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宏观验证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是否摘要化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情节是否缺失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人物称呼是否一致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叙述视角是否漂移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 文学意象是否保留</a:t>
            </a:r>
          </a:p>
        </p:txBody>
      </p:sp>
    </p:spTree>
    <p:extLst>
      <p:ext uri="{BB962C8B-B14F-4D97-AF65-F5344CB8AC3E}">
        <p14:creationId xmlns:p14="http://schemas.microsoft.com/office/powerpoint/2010/main" val="548140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D0393A4-CFD5-495A-8E8B-05AF56C692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6ECD6C-C207-4F3D-AEDB-2C74B624C95C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5533E6-ADE7-49C1-A8CE-01FF37243E61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CAEBE09-5019-4AE6-9DCE-3461B7609D5A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易读性评分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A71189-F01A-43B3-A672-9D4D892F2329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validation 模拟目标读者，而不是只相信生成模型。</a:t>
            </a:r>
          </a:p>
          <a:p>
            <a:endParaRPr sz="1725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LevelScore = 词汇负担 + 语法负担 + 句长负担 + 汉字负担 - 注释补偿</a:t>
            </a:r>
          </a:p>
          <a:p>
            <a:endParaRPr sz="1725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如果 N3 读者词库下得分过高：文本可能偏 N2。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如果得分过低：可能过度简化到 N4/N5。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目标是落入可读区间，而不是越简单越好。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BDCDB2F-EAB6-439E-A732-42EF57B09B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38591B-D745-46E9-A788-EE053518C95E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EDE825-E493-4D02-8FF8-A33FE6538C78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5BA64FD-9EEF-4191-BEDB-6C834492BB52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Demo：语法拆分与主题词保留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061112-E239-4641-9657-393135F08143}"/>
              </a:ext>
            </a:extLst>
          </p:cNvPr>
          <p:cNvSpPr>
            <a:spLocks noGrp="1"/>
          </p:cNvSpPr>
          <p:nvPr/>
        </p:nvSpPr>
        <p:spPr>
          <a:xfrm>
            <a:off x="5953125" y="1714500"/>
            <a:ext cx="28575" cy="41433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BC4066-5B15-4538-97B9-1648D6C64965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原文式表达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先生の胸の奥に長いあいだ沈んでいた罪悪感を、私はまだ知ることができなかった。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难点：长连体修饰、抽象名词、信息密度高。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244C54-B3EF-412A-B2D6-BE0D45E8DE5F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N3 改编方向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先生の心の中には、長いあいだ消えない罪悪感がありました。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私は、そのことをまだ知りませんでした。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罪悪感：保留并注释；复杂修饰：拆句。</a:t>
            </a:r>
          </a:p>
        </p:txBody>
      </p:sp>
    </p:spTree>
    <p:extLst>
      <p:ext uri="{BB962C8B-B14F-4D97-AF65-F5344CB8AC3E}">
        <p14:creationId xmlns:p14="http://schemas.microsoft.com/office/powerpoint/2010/main" val="548140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9554BB1-B113-4C48-8E2C-1AAFE8766A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B0B455-62F5-4F8C-82C9-F3FB90E8D3D6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D91490-372B-4BD5-B740-9FB4EE9FAB78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3881AB0-0CD9-459D-9EC7-3AD8CCBD051D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实验变量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D41849-A2EA-463F-8D1D-042FAB55E07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模型变量：GPT / Claude / Gemini / 开源模型。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Prompt 变量：zero-shot、few-shot、Scene Plan、有无 Story Bible。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资源变量：无词库、词汇 profile、语法 profile、读者个人词库。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流程变量：一次生成、生成后 validation、validation + revision loop。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文本变量：对话、心理独白、景物描写、文化说明、冲突场景。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14A3F3D-6217-4622-836A-499846472A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C6DA43-C128-474D-9E3A-3F34F97B4295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3B9EE5-C867-44D6-AEB3-259712FE81A7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58888A5-CAEC-45BF-995B-7B890FBB3CCE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评价指标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EF95DD-06DC-4F6F-8594-0CDA93A897CA}"/>
              </a:ext>
            </a:extLst>
          </p:cNvPr>
          <p:cNvSpPr>
            <a:spLocks noGrp="1"/>
          </p:cNvSpPr>
          <p:nvPr/>
        </p:nvSpPr>
        <p:spPr>
          <a:xfrm>
            <a:off x="5953125" y="1714500"/>
            <a:ext cx="28575" cy="41433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6D3CC2-826F-449F-BC4F-D475A485D399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质量指标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等级适切性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语言自然度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内容忠实性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故事连续性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文学性保持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注释质量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学习者可用性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C99AFA-0E1A-4D7C-BB43-5F539D009C24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工程指标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 token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输出 token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缓存命中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单 scene 成本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重试率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JSON 失败率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validation 成本占比</a:t>
            </a:r>
          </a:p>
        </p:txBody>
      </p:sp>
    </p:spTree>
    <p:extLst>
      <p:ext uri="{BB962C8B-B14F-4D97-AF65-F5344CB8AC3E}">
        <p14:creationId xmlns:p14="http://schemas.microsoft.com/office/powerpoint/2010/main" val="548140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8DB80F2-BF8A-42AA-8632-783CF0E8B0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AA209F-A1F3-43BA-A3A3-25E73BEBA90F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7C090F-9553-43F0-A0D6-F108C5B2D39B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7B143BB-0F01-4E65-AEC2-8BD797C29752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7A403D-CA00-4BE9-9201-473DC52BAEE9}"/>
              </a:ext>
            </a:extLst>
          </p:cNvPr>
          <p:cNvSpPr>
            <a:spLocks noGrp="1"/>
          </p:cNvSpPr>
          <p:nvPr/>
        </p:nvSpPr>
        <p:spPr>
          <a:xfrm>
            <a:off x="5953125" y="1714500"/>
            <a:ext cx="28575" cy="41433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1652E2-BB6D-4E95-AF78-BE37E246715B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可以展示的量化结果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不同方法的等级得分分布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词汇超纲率和注释覆盖率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忠实性问答通过率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人工评分均值与方差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不同模型的成本-质量曲线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F952A2-9BE8-49D2-982C-224AF4182858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504825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可复现实验记录</a:t>
            </a:r>
          </a:p>
          <a:p>
            <a:endParaRPr sz="150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原文版本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prompt 版本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level profile 版本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模型名称与参数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temperature / seed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调用时间与价格表日期</a:t>
            </a:r>
          </a:p>
          <a:p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每轮 validation 报告</a:t>
            </a:r>
          </a:p>
        </p:txBody>
      </p:sp>
    </p:spTree>
    <p:extLst>
      <p:ext uri="{BB962C8B-B14F-4D97-AF65-F5344CB8AC3E}">
        <p14:creationId xmlns:p14="http://schemas.microsoft.com/office/powerpoint/2010/main" val="548140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B3D0E8F-53DE-448F-8529-C03E27F837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BE268A-795C-4CA1-A20C-DA9759A08847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8571FF-E8DF-4613-B01D-3B0396197CF4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77F2D6A-197C-46DC-8930-D3E635148AE9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日语与文学性的特殊设计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0DE19F-366A-48F6-9A80-CB5E6A0428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日语层面：汉字负担、振假名、敬体/常体、终助词、省略、长连体修饰、拟声拟态语。</a:t>
            </a: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文学层面：叙述视角、人物称呼、主题词、文化词、意象复现、节奏与留白。</a:t>
            </a:r>
          </a:p>
          <a:p>
            <a:endParaRPr sz="1725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因此本文不是把英语 readability control 直接迁移到日语，而是把日语教育与文学改编约束写进流水线。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BFCED83-F31C-403D-9237-6BFDE63CB5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63C480-8474-4575-8CAA-E89891CFD24D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19697B-8FCA-4694-9FBE-D105519F1C3F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0896A3B-B374-4384-907A-8274430502F4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不足与展望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958CB0-1E44-4A71-AC6D-8F56E3391D03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33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不足：尚未完成百万字长篇全流程测试；文学性自动评价仍依赖人工或 LLM judge；词汇/语法 profile 的来源会影响结论。</a:t>
            </a:r>
          </a:p>
          <a:p>
            <a:endParaRPr sz="1725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展望：开放词库接口，接入学习者个人词汇量；与阅读 App 联动；积累人工评价数据；未来可训练日语文学分级改编专用模型。</a:t>
            </a:r>
          </a:p>
        </p:txBody>
      </p:sp>
    </p:spTree>
    <p:extLst>
      <p:ext uri="{BB962C8B-B14F-4D97-AF65-F5344CB8AC3E}">
        <p14:creationId xmlns:p14="http://schemas.microsoft.com/office/powerpoint/2010/main" val="3290803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F6670AB-D87D-44CF-A555-53066FE708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A4B140-71B9-46E7-9D73-6A5B29D0983A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980000"/>
          </a:solidFill>
          <a:ln w="0">
            <a:solidFill>
              <a:srgbClr val="98000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23E7FD-C165-4070-9446-62EC795A32E4}"/>
              </a:ext>
            </a:extLst>
          </p:cNvPr>
          <p:cNvSpPr>
            <a:spLocks noGrp="1"/>
          </p:cNvSpPr>
          <p:nvPr/>
        </p:nvSpPr>
        <p:spPr>
          <a:xfrm>
            <a:off x="400050" y="2190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× </a:t>
            </a: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日语文学分级改编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0" y="114300"/>
            <a:ext cx="647700" cy="6477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859A48E-BE80-40DF-89F2-BE4EA0B11000}"/>
              </a:ext>
            </a:extLst>
          </p:cNvPr>
          <p:cNvSpPr>
            <a:spLocks noGrp="1"/>
          </p:cNvSpPr>
          <p:nvPr/>
        </p:nvSpPr>
        <p:spPr>
          <a:xfrm>
            <a:off x="400050" y="10858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参考文献与鸣谢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6EEA58-7432-4309-B6F2-9A1A79A019D7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049000" cy="447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TSAR 2025 Shared Task on Readability-Controlled Text Simplification.</a:t>
            </a:r>
          </a:p>
          <a:p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Farajidizaji, Raina &amp; Gales. Is It Possible to Modify Text to a Target Readability Level? 2024.</a:t>
            </a:r>
          </a:p>
          <a:p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Huang, Wei &amp; Huang. Generating Educational Materials with Different Levels of Readability using LLMs. 2024.</a:t>
            </a:r>
          </a:p>
          <a:p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Fang et al. Progressive Document-level Text Simplification via Large Language Models. 2025.</a:t>
            </a:r>
          </a:p>
          <a:p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Nagai et al. A Document-Level Text Simplification Dataset for Japanese. 2024.</a:t>
            </a:r>
          </a:p>
          <a:p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JLPT level summary / JF Standard / jReadability resources.</a:t>
            </a:r>
          </a:p>
          <a:p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谢谢。</a:t>
            </a:r>
          </a:p>
        </p:txBody>
      </p:sp>
    </p:spTree>
    <p:extLst>
      <p:ext uri="{BB962C8B-B14F-4D97-AF65-F5344CB8AC3E}">
        <p14:creationId xmlns:p14="http://schemas.microsoft.com/office/powerpoint/2010/main" val="1149107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999</Words>
  <Application>Microsoft Macintosh PowerPoint</Application>
  <DocSecurity>0</DocSecurity>
  <PresentationFormat>宽屏</PresentationFormat>
  <Paragraphs>257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等线</vt:lpstr>
      <vt:lpstr>Lantinghei SC Demibold</vt:lpstr>
      <vt:lpstr>PingFang SC</vt:lpstr>
      <vt:lpstr>Calibri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Kaho Tomori</cp:lastModifiedBy>
  <cp:revision>18</cp:revision>
  <dcterms:created xsi:type="dcterms:W3CDTF">2026-05-24T13:41:20Z</dcterms:created>
  <dcterms:modified xsi:type="dcterms:W3CDTF">2026-05-24T13:51:00Z</dcterms:modified>
</cp:coreProperties>
</file>