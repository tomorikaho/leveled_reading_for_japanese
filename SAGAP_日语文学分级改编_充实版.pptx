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060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128016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13232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69164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基于大语言模型的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日本文学分级阅读材料生成研究与流水线设计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977640" y="3063240"/>
            <a:ext cx="4251960" cy="0"/>
          </a:xfrm>
          <a:prstGeom prst="line">
            <a:avLst/>
          </a:prstGeom>
          <a:noFill/>
          <a:ln w="27940">
            <a:solidFill>
              <a:srgbClr val="B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3246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Story-Aware Graded Adaptation Pipeline for Japanese Literature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0" y="4983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汇报人：封帆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2026.5.26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828800" y="434340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原文小说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54680" y="4572000"/>
            <a:ext cx="731520" cy="0"/>
          </a:xfrm>
          <a:prstGeom prst="line">
            <a:avLst/>
          </a:prstGeom>
          <a:noFill/>
          <a:ln w="1778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3977640" y="4251960"/>
            <a:ext cx="14630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流水线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4572000"/>
            <a:ext cx="731520" cy="0"/>
          </a:xfrm>
          <a:prstGeom prst="line">
            <a:avLst/>
          </a:prstGeom>
          <a:noFill/>
          <a:ln w="1778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6355080" y="425196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N1～N5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分级读物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73568" y="4572000"/>
            <a:ext cx="640080" cy="0"/>
          </a:xfrm>
          <a:prstGeom prst="line">
            <a:avLst/>
          </a:prstGeom>
          <a:noFill/>
          <a:ln w="1778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8732520" y="42519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注释・验证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学习支持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06440" y="641908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发表目录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从分级阅读问题出发，逐步进入 SAGAP 流水线、实验设计与展望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1600200"/>
            <a:ext cx="320040" cy="320040"/>
          </a:xfrm>
          <a:prstGeom prst="ellipse">
            <a:avLst/>
          </a:prstGeom>
          <a:solidFill>
            <a:srgbClr val="B0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417320" y="159105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分级阅读的概念、意义与目标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2286000"/>
            <a:ext cx="320040" cy="320040"/>
          </a:xfrm>
          <a:prstGeom prst="ellipse">
            <a:avLst/>
          </a:prstGeom>
          <a:solidFill>
            <a:srgbClr val="B0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17320" y="227685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 LLM 方法的局限与研究突破口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2971800"/>
            <a:ext cx="320040" cy="320040"/>
          </a:xfrm>
          <a:prstGeom prst="ellipse">
            <a:avLst/>
          </a:prstGeom>
          <a:solidFill>
            <a:srgbClr val="B0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417320" y="296265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先前研究：可读性控制、日语平易化、文档级简化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" y="3657600"/>
            <a:ext cx="320040" cy="320040"/>
          </a:xfrm>
          <a:prstGeom prst="ellipse">
            <a:avLst/>
          </a:prstGeom>
          <a:solidFill>
            <a:srgbClr val="B0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417320" y="364845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SAGAP 流水线：从 chunk 到 validation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4400" y="4343400"/>
            <a:ext cx="320040" cy="320040"/>
          </a:xfrm>
          <a:prstGeom prst="ellipse">
            <a:avLst/>
          </a:prstGeom>
          <a:solidFill>
            <a:srgbClr val="B0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417320" y="433425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实验设计、评价维度与可复现性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14400" y="5029200"/>
            <a:ext cx="320040" cy="320040"/>
          </a:xfrm>
          <a:prstGeom prst="ellipse">
            <a:avLst/>
          </a:prstGeom>
          <a:solidFill>
            <a:srgbClr val="B0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17320" y="502005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不足与展望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46720" y="5349240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FAF2F2"/>
          </a:solidFill>
          <a:ln w="12700">
            <a:solidFill>
              <a:srgbClr val="F6E9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关键词：日语教育 × 文本平易化 × 文学改编 × LLM 可控生成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研究问题：不是“把小说改简单”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核心目标是控制阅读负荷，同时保留故事、人物与文学体验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51560" y="1600200"/>
            <a:ext cx="10058400" cy="777240"/>
          </a:xfrm>
          <a:prstGeom prst="roundRect">
            <a:avLst>
              <a:gd name="adj" fmla="val 9412"/>
            </a:avLst>
          </a:prstGeom>
          <a:solidFill>
            <a:srgbClr val="FAF2F2"/>
          </a:solidFill>
          <a:ln>
            <a:solidFill>
              <a:srgbClr val="F6E9E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如何把日语文学作品改编为目标等级读者可读的分级材料，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同时保留情节、人物关系、叙事语气与文学性？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51560" y="2880360"/>
            <a:ext cx="1861718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语言等级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可控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931566" y="322326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3077870" y="2880360"/>
            <a:ext cx="1861718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内容情节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忠实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57877" y="322326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5104181" y="2880360"/>
            <a:ext cx="1861718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长篇一致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84187" y="322326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7130491" y="2880360"/>
            <a:ext cx="1861718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文学性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10498" y="322326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9156802" y="2880360"/>
            <a:ext cx="1861718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学习支持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可用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103120" y="4343400"/>
            <a:ext cx="804672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0000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目标等级不是主动制造难度，而是控制读者的理解负荷上限。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分级阅读的意义：连接教材日语与文学日语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让学习者更早接触真实文本，又不被语言门槛劝退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141732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学习者困境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1847088"/>
            <a:ext cx="47091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教材文本：语言可控，但内容和文学性有限
</a:t>
            </a:r>
            <a:endParaRPr lang="en-US" sz="1450" dirty="0"/>
          </a:p>
          <a:p>
            <a:r>
              <a:rPr lang="en-US" sz="14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原典文学：内容丰富，但词汇、语法、文体门槛高
</a:t>
            </a:r>
            <a:endParaRPr lang="en-US" sz="1450" dirty="0"/>
          </a:p>
          <a:p>
            <a:r>
              <a:rPr lang="en-US" sz="14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中间缺口：想读文学，但读不动、读不久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29400" y="1417320"/>
            <a:ext cx="196596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分级阅读价值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20840" y="1847088"/>
            <a:ext cx="470916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降低进入经典文本的门槛
</a:t>
            </a:r>
            <a:endParaRPr lang="en-US" sz="1450" dirty="0"/>
          </a:p>
          <a:p>
            <a:r>
              <a:rPr lang="en-US" sz="14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支持多读与持续阅读
</a:t>
            </a:r>
            <a:endParaRPr lang="en-US" sz="1450" dirty="0"/>
          </a:p>
          <a:p>
            <a:r>
              <a:rPr lang="en-US" sz="14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在可理解输入中积累表达
</a:t>
            </a:r>
            <a:endParaRPr lang="en-US" sz="1450" dirty="0"/>
          </a:p>
          <a:p>
            <a:r>
              <a:rPr lang="en-US" sz="14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保留文学与文化接触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143000" y="406908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初级教材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やさしい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2761488" y="4389120"/>
            <a:ext cx="1399032" cy="0"/>
          </a:xfrm>
          <a:prstGeom prst="line">
            <a:avLst/>
          </a:prstGeom>
          <a:noFill/>
          <a:ln w="1778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4343400" y="397764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分级文学读物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入口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6446520" y="4389120"/>
            <a:ext cx="1463040" cy="0"/>
          </a:xfrm>
          <a:prstGeom prst="line">
            <a:avLst/>
          </a:prstGeom>
          <a:noFill/>
          <a:ln w="1778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8092440" y="406908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原典文学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真实复杂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2194560" y="5349240"/>
            <a:ext cx="804672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分级阅读不是“把文学变幼稚”，而是“让学习者进入文学”。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任务定义：输入与输出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把“生成一篇文章”扩展为“生成可学习、可验证、可追踪的材料”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1298448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Input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1783080"/>
            <a:ext cx="48006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日本文学原文：小说、短篇、随笔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作品结构：章节、段落、对话边界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目标等级：N1 / N2 / N3 / N4 / N5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可选：用户词汇量、已学语法、注释偏好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可选：保守改写 / 强改写 / 注释优先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46520" y="1298448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Output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37960" y="1783080"/>
            <a:ext cx="480060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分级改编后的 scene 文本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点对点注释与 furigana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词汇表、语法说明、阅读问题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Story Bible 更新信息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报告与 revision history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token 与成本日志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463040" y="4892040"/>
            <a:ext cx="1697126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 span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178454" y="5202936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3324758" y="4892040"/>
            <a:ext cx="1697126" cy="621792"/>
          </a:xfrm>
          <a:prstGeom prst="roundRect">
            <a:avLst>
              <a:gd name="adj" fmla="val 10294"/>
            </a:avLst>
          </a:prstGeom>
          <a:solidFill>
            <a:srgbClr val="F9F9F9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改编句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40173" y="5202936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5186477" y="4892040"/>
            <a:ext cx="1697126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注释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01891" y="5202936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7048195" y="4892040"/>
            <a:ext cx="1697126" cy="621792"/>
          </a:xfrm>
          <a:prstGeom prst="roundRect">
            <a:avLst>
              <a:gd name="adj" fmla="val 10294"/>
            </a:avLst>
          </a:prstGeom>
          <a:solidFill>
            <a:srgbClr val="F9F9F9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Score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763610" y="5202936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8909914" y="4892040"/>
            <a:ext cx="1697126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Revision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History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改编质量要求：分级、忠实、文学与学习支持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好的分级改编不是“越简单越好”，而是多目标平衡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1417320"/>
            <a:ext cx="1325880" cy="329184"/>
          </a:xfrm>
          <a:prstGeom prst="roundRect">
            <a:avLst>
              <a:gd name="adj" fmla="val 13889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等级适切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286000" y="13990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语法尽量在目标范围内；难词替换或注释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1325880" cy="329184"/>
          </a:xfrm>
          <a:prstGeom prst="roundRect">
            <a:avLst>
              <a:gd name="adj" fmla="val 13889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内容忠实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63840" y="13990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不把场景改成摘要；保留关键情节和心理变化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777240" y="2743200"/>
            <a:ext cx="1325880" cy="329184"/>
          </a:xfrm>
          <a:prstGeom prst="roundRect">
            <a:avLst>
              <a:gd name="adj" fmla="val 13889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文学性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286000" y="27249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保留叙述视角、人物声音、意象和节奏</a:t>
            </a:r>
            <a:endParaRPr lang="en-US" sz="1320" dirty="0"/>
          </a:p>
        </p:txBody>
      </p:sp>
      <p:sp>
        <p:nvSpPr>
          <p:cNvPr id="16" name="Text 13"/>
          <p:cNvSpPr/>
          <p:nvPr/>
        </p:nvSpPr>
        <p:spPr>
          <a:xfrm>
            <a:off x="6355080" y="2743200"/>
            <a:ext cx="1325880" cy="329184"/>
          </a:xfrm>
          <a:prstGeom prst="roundRect">
            <a:avLst>
              <a:gd name="adj" fmla="val 13889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自然日语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863840" y="27249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避免机械短句、翻译腔、儿童化表达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777240" y="4069080"/>
            <a:ext cx="1325880" cy="329184"/>
          </a:xfrm>
          <a:prstGeom prst="roundRect">
            <a:avLst>
              <a:gd name="adj" fmla="val 13889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学习辅助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286000" y="40507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furigana、短注释、文化词解释、阅读问题</a:t>
            </a:r>
            <a:endParaRPr lang="en-US" sz="1320" dirty="0"/>
          </a:p>
        </p:txBody>
      </p:sp>
      <p:sp>
        <p:nvSpPr>
          <p:cNvPr id="20" name="Text 17"/>
          <p:cNvSpPr/>
          <p:nvPr/>
        </p:nvSpPr>
        <p:spPr>
          <a:xfrm>
            <a:off x="6355080" y="4069080"/>
            <a:ext cx="1325880" cy="329184"/>
          </a:xfrm>
          <a:prstGeom prst="roundRect">
            <a:avLst>
              <a:gd name="adj" fmla="val 13889"/>
            </a:avLst>
          </a:prstGeom>
          <a:solidFill>
            <a:srgbClr val="B00000"/>
          </a:solidFill>
          <a:ln>
            <a:solidFill>
              <a:srgbClr val="B0000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最小必要改写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863840" y="40507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原文已经合适时尽量保留，不主动增难</a:t>
            </a:r>
            <a:endParaRPr lang="en-US" sz="1320" dirty="0"/>
          </a:p>
        </p:txBody>
      </p:sp>
      <p:sp>
        <p:nvSpPr>
          <p:cNvPr id="22" name="Text 19"/>
          <p:cNvSpPr/>
          <p:nvPr/>
        </p:nvSpPr>
        <p:spPr>
          <a:xfrm>
            <a:off x="1920240" y="5532120"/>
            <a:ext cx="8412480" cy="438912"/>
          </a:xfrm>
          <a:prstGeom prst="rect">
            <a:avLst/>
          </a:prstGeom>
          <a:solidFill>
            <a:srgbClr val="FAF2F2"/>
          </a:solidFill>
          <a:ln w="10160">
            <a:solidFill>
              <a:srgbClr val="F6E9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核心原则：目标等级 = 读者阅读负荷上限；不是“主动制造该等级难度”。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 LLM 直接生成的典型失败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一句“请改成 N3”通常不足以稳定完成文学分级改编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1417320"/>
            <a:ext cx="1371600" cy="384048"/>
          </a:xfrm>
          <a:prstGeom prst="roundRect">
            <a:avLst>
              <a:gd name="adj" fmla="val 16667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摘要化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350008" y="14356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完整场景被压缩成几句梗概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1371600" cy="384048"/>
          </a:xfrm>
          <a:prstGeom prst="roundRect">
            <a:avLst>
              <a:gd name="adj" fmla="val 16667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等级不稳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27848" y="14356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N3 文本混入 N2 语法，或被写成 N5 儿童语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" y="2560320"/>
            <a:ext cx="1371600" cy="384048"/>
          </a:xfrm>
          <a:prstGeom prst="roundRect">
            <a:avLst>
              <a:gd name="adj" fmla="val 16667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长篇漂移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350008" y="25786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人物称呼、术语、伏笔、语体前后不一致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355080" y="2560320"/>
            <a:ext cx="1371600" cy="384048"/>
          </a:xfrm>
          <a:prstGeom prst="roundRect">
            <a:avLst>
              <a:gd name="adj" fmla="val 16667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文学性损失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927848" y="25786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沉默、含蓄、意象被直接解释掉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7240" y="3703320"/>
            <a:ext cx="1371600" cy="384048"/>
          </a:xfrm>
          <a:prstGeom prst="roundRect">
            <a:avLst>
              <a:gd name="adj" fmla="val 16667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过度改写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350008" y="37216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简单句在 N1 目标下被强行复杂化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828800" y="5349240"/>
            <a:ext cx="85953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0000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风险不是“模型不会写”，而是“模型会写，但未必按教育与文学目标写”。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例子：过度高级化与文学性损失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目标等级不是让文本“看起来更高级”，而是控制理解负荷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141732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1828800"/>
            <a:ext cx="44805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私は先生の家へ行きました。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88036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 N1：主动增难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3291840"/>
            <a:ext cx="4480560" cy="713232"/>
          </a:xfrm>
          <a:prstGeom prst="rect">
            <a:avLst/>
          </a:prstGeom>
          <a:solidFill>
            <a:srgbClr val="FAF2F2"/>
          </a:solidFill>
          <a:ln w="10160">
            <a:solidFill>
              <a:srgbClr val="F6E9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私は、かねてより関心を抱いていた先生の住居を訪れることとなった。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629400" y="141732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28734B"/>
          </a:solidFill>
          <a:ln w="12700">
            <a:solidFill>
              <a:srgbClr val="28734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合理 N1：最小必要改写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66560" y="1828800"/>
            <a:ext cx="4297680" cy="502920"/>
          </a:xfrm>
          <a:prstGeom prst="rect">
            <a:avLst/>
          </a:prstGeom>
          <a:solidFill>
            <a:srgbClr val="F5FBF7"/>
          </a:solidFill>
          <a:ln w="10160">
            <a:solidFill>
              <a:srgbClr val="CFEAD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私は先生の家へ行った。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29400" y="288036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8734B"/>
          </a:solidFill>
          <a:ln w="12700">
            <a:solidFill>
              <a:srgbClr val="28734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合理 N5：读音辅助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66560" y="3291840"/>
            <a:ext cx="4297680" cy="594360"/>
          </a:xfrm>
          <a:prstGeom prst="rect">
            <a:avLst/>
          </a:prstGeom>
          <a:solidFill>
            <a:srgbClr val="F5FBF7"/>
          </a:solidFill>
          <a:ln w="10160">
            <a:solidFill>
              <a:srgbClr val="CFEAD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私は先生（せんせい）の家（いえ）へ行きました。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1920240" y="5074920"/>
            <a:ext cx="84124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0000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设计启示：必须加入“最小必要改写”与“过度改写检测”。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日语文学文本的特殊难点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不能直接把英语 readability control 迁移过来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1417320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文字系统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12848" y="145389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汉字、假名、片假名、furigana 影响可读性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6446520" y="1417320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文体系统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27848" y="145389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敬体/常体、だ/である、旧式表达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731520" y="2542032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句法结构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212848" y="257860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长连体修饰、名词化、复杂从句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6446520" y="2542032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文化词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927848" y="257860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下宿、書生、縁側、仏壇 等难以替换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731520" y="3666744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关系称呼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212848" y="37033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先生、私、君、あなた 等承载关系性</a:t>
            </a:r>
            <a:endParaRPr lang="en-US" sz="1220" dirty="0"/>
          </a:p>
        </p:txBody>
      </p:sp>
      <p:sp>
        <p:nvSpPr>
          <p:cNvPr id="20" name="Text 17"/>
          <p:cNvSpPr/>
          <p:nvPr/>
        </p:nvSpPr>
        <p:spPr>
          <a:xfrm>
            <a:off x="6446520" y="3666744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文学留白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27848" y="37033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沈黙、余韵、意象、含蓄心理描写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1143000" y="5074920"/>
            <a:ext cx="9875520" cy="640080"/>
          </a:xfrm>
          <a:prstGeom prst="roundRect">
            <a:avLst>
              <a:gd name="adj" fmla="val 5714"/>
            </a:avLst>
          </a:prstGeom>
          <a:solidFill>
            <a:srgbClr val="F7F7F7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先生の胸の奥に長いあいだ沈んでいた罪悪感を、私はまだ知らなかった。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→ 难点：长连体修饰 / 主题词 / 文学意象 / 一人称叙述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先前研究基础：可读性、日语平易化与文档级简化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本研究不是从零开始，而是在多个方向上做整合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1417320"/>
            <a:ext cx="2383841" cy="574766"/>
          </a:xfrm>
          <a:prstGeom prst="rect">
            <a:avLst/>
          </a:prstGeom>
          <a:solidFill>
            <a:srgbClr val="B00000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3069641" y="1417320"/>
            <a:ext cx="3359048" cy="574766"/>
          </a:xfrm>
          <a:prstGeom prst="rect">
            <a:avLst/>
          </a:prstGeom>
          <a:solidFill>
            <a:srgbClr val="B00000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代表工作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6428689" y="1417320"/>
            <a:ext cx="5092751" cy="574766"/>
          </a:xfrm>
          <a:prstGeom prst="rect">
            <a:avLst/>
          </a:prstGeom>
          <a:solidFill>
            <a:srgbClr val="B00000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对本研究的启发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685800" y="1992086"/>
            <a:ext cx="2383841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可读性控制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3069641" y="1992086"/>
            <a:ext cx="3359048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TSAR 2025 / CEFR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6428689" y="1992086"/>
            <a:ext cx="5092751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目标等级生成需要迭代与验证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685800" y="2566851"/>
            <a:ext cx="2383841" cy="574766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分级生成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3069641" y="2566851"/>
            <a:ext cx="3359048" cy="574766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Huang et al. 2024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6428689" y="2566851"/>
            <a:ext cx="5092751" cy="574766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few-shot 有助等级控制，但会有误信息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685800" y="3141617"/>
            <a:ext cx="2383841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日语平易化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3069641" y="3141617"/>
            <a:ext cx="3359048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JADES / JADOS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6428689" y="3141617"/>
            <a:ext cx="5092751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日语句子级、文档级简化已有资源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685800" y="3716383"/>
            <a:ext cx="2383841" cy="574766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日语可读性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3069641" y="3716383"/>
            <a:ext cx="3359048" cy="574766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jReadability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6428689" y="3716383"/>
            <a:ext cx="5092751" cy="574766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可作为自动难度评价参考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685800" y="4291149"/>
            <a:ext cx="2383841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词汇复杂度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3069641" y="4291149"/>
            <a:ext cx="3359048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Japanese LCP / MultiLS-Japanese</a:t>
            </a:r>
            <a:endParaRPr lang="en-US" sz="920" dirty="0"/>
          </a:p>
        </p:txBody>
      </p:sp>
      <p:sp>
        <p:nvSpPr>
          <p:cNvPr id="27" name="Text 24"/>
          <p:cNvSpPr/>
          <p:nvPr/>
        </p:nvSpPr>
        <p:spPr>
          <a:xfrm>
            <a:off x="6428689" y="4291149"/>
            <a:ext cx="5092751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词汇难度受读者背景影响</a:t>
            </a:r>
            <a:endParaRPr lang="en-US" sz="920" dirty="0"/>
          </a:p>
        </p:txBody>
      </p:sp>
      <p:sp>
        <p:nvSpPr>
          <p:cNvPr id="28" name="Text 25"/>
          <p:cNvSpPr/>
          <p:nvPr/>
        </p:nvSpPr>
        <p:spPr>
          <a:xfrm>
            <a:off x="685800" y="4865914"/>
            <a:ext cx="2383841" cy="574766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graded readers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3069641" y="4865914"/>
            <a:ext cx="3359048" cy="574766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Gifu Univ. 项目</a:t>
            </a:r>
            <a:endParaRPr lang="en-US" sz="920" dirty="0"/>
          </a:p>
        </p:txBody>
      </p:sp>
      <p:sp>
        <p:nvSpPr>
          <p:cNvPr id="30" name="Text 27"/>
          <p:cNvSpPr/>
          <p:nvPr/>
        </p:nvSpPr>
        <p:spPr>
          <a:xfrm>
            <a:off x="6428689" y="4865914"/>
            <a:ext cx="5092751" cy="574766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实践可行，但评价与一致性不足</a:t>
            </a:r>
            <a:endParaRPr lang="en-US" sz="920" dirty="0"/>
          </a:p>
        </p:txBody>
      </p:sp>
      <p:sp>
        <p:nvSpPr>
          <p:cNvPr id="31" name="Text 28"/>
          <p:cNvSpPr/>
          <p:nvPr/>
        </p:nvSpPr>
        <p:spPr>
          <a:xfrm>
            <a:off x="548640" y="6355080"/>
            <a:ext cx="11018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TSAR 2025  |  Huang et al. 2024  |  Hayakawa et al. 2022  |  Nagai et al. 2024  |  Hasebe &amp; Lee 2015</a:t>
            </a:r>
            <a:endParaRPr lang="en-US" sz="6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研究空白：日语文学长文本的多等级改编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现有工作很有启发，但没有完全覆盖本研究任务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132588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已有工作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1783080"/>
            <a:ext cx="41148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英语/CEFR 可读性控制较多
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日语已有句子级、词汇级、文档级平易化资源
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生成分级读物已有实践项目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37960" y="132588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尚未充分解决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75120" y="1783080"/>
            <a:ext cx="42062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 N1～N5 的多等级日本文学改编
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专名/文化词/主题词的保留与注释机制
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长篇人物、术语、伏笔的一致性维护
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文学性与学习者可读性的共同评价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17320" y="4892040"/>
            <a:ext cx="9326880" cy="502920"/>
          </a:xfrm>
          <a:prstGeom prst="rect">
            <a:avLst/>
          </a:prstGeom>
          <a:solidFill>
            <a:srgbClr val="FAF2F2"/>
          </a:solidFill>
          <a:ln w="10160">
            <a:solidFill>
              <a:srgbClr val="F6E9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核心切入：把 LLM 的生成能力放入日语教育约束、文学改编约束与可复现实验框架中。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SAGAP：Story-Aware Graded Adaptation Pipeline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故事结构感知的分级改编流水线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97280" y="1600200"/>
            <a:ext cx="594360" cy="475488"/>
          </a:xfrm>
          <a:prstGeom prst="roundRect">
            <a:avLst>
              <a:gd name="adj" fmla="val 15385"/>
            </a:avLst>
          </a:prstGeom>
          <a:solidFill>
            <a:srgbClr val="B00000"/>
          </a:solidFill>
          <a:ln w="12700">
            <a:solidFill>
              <a:srgbClr val="F6E9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828800" y="1508760"/>
            <a:ext cx="36576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Story-Aware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关注人物、术语、伏笔和叙事结构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2514600"/>
            <a:ext cx="594360" cy="475488"/>
          </a:xfrm>
          <a:prstGeom prst="roundRect">
            <a:avLst>
              <a:gd name="adj" fmla="val 15385"/>
            </a:avLst>
          </a:prstGeom>
          <a:solidFill>
            <a:srgbClr val="B00000"/>
          </a:solidFill>
          <a:ln w="12700">
            <a:solidFill>
              <a:srgbClr val="F6E9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828800" y="2423160"/>
            <a:ext cx="36576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Graded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 N1～N5，不把等级当作硬词表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0" y="3429000"/>
            <a:ext cx="594360" cy="475488"/>
          </a:xfrm>
          <a:prstGeom prst="roundRect">
            <a:avLst>
              <a:gd name="adj" fmla="val 15385"/>
            </a:avLst>
          </a:prstGeom>
          <a:solidFill>
            <a:srgbClr val="B00000"/>
          </a:solidFill>
          <a:ln w="12700">
            <a:solidFill>
              <a:srgbClr val="F6E9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828800" y="3337560"/>
            <a:ext cx="36576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Adaptation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文学改编，不是摘要或机械简化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97280" y="4343400"/>
            <a:ext cx="594360" cy="475488"/>
          </a:xfrm>
          <a:prstGeom prst="roundRect">
            <a:avLst>
              <a:gd name="adj" fmla="val 15385"/>
            </a:avLst>
          </a:prstGeom>
          <a:solidFill>
            <a:srgbClr val="B00000"/>
          </a:solidFill>
          <a:ln w="12700">
            <a:solidFill>
              <a:srgbClr val="F6E9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828800" y="4251960"/>
            <a:ext cx="36576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Pipeline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多步骤、可复现、可评价、可修正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0" y="141732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六条设计原则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37960" y="1874520"/>
            <a:ext cx="443484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目标等级是阅读负荷上限
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最小必要改写：能不改就不改
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词汇半严格，语法较严格
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必要超纲词用注释兜底
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Story Bible 保持长篇一致性
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多层 validation 闭环修正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SAGAP 整体概览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从原文输入到分级读物输出的可复现流程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4360" y="1600200"/>
            <a:ext cx="16916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</a:t>
            </a: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2304288" y="192024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2450592" y="1600200"/>
            <a:ext cx="16916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预处理</a:t>
            </a: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分章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4160520" y="192024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4306824" y="1600200"/>
            <a:ext cx="16916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Scene</a:t>
            </a: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Chunking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6016752" y="192024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6163056" y="1600200"/>
            <a:ext cx="16916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Story</a:t>
            </a: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Bible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7872984" y="192024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8019288" y="1600200"/>
            <a:ext cx="16916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Level</a:t>
            </a: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Profile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9729216" y="192024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9875520" y="1600200"/>
            <a:ext cx="16916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Edit</a:t>
            </a: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Decision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6080760" y="2240280"/>
            <a:ext cx="0" cy="502920"/>
          </a:xfrm>
          <a:prstGeom prst="line">
            <a:avLst/>
          </a:prstGeom>
          <a:noFill/>
          <a:ln w="1524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1645920" y="2971800"/>
            <a:ext cx="164226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306470" y="329184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3452774" y="2971800"/>
            <a:ext cx="164226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改编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113325" y="329184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5259629" y="2971800"/>
            <a:ext cx="164226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三层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920179" y="329184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7066483" y="2971800"/>
            <a:ext cx="164226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Revision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727034" y="329184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8873338" y="2971800"/>
            <a:ext cx="164226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00584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两条控制线：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063240" y="4462272"/>
            <a:ext cx="2971800" cy="502920"/>
          </a:xfrm>
          <a:prstGeom prst="roundRect">
            <a:avLst>
              <a:gd name="adj" fmla="val 12727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文学线：情节・人物・意象・语气</a:t>
            </a:r>
            <a:endParaRPr lang="en-US" sz="1120" dirty="0"/>
          </a:p>
        </p:txBody>
      </p:sp>
      <p:sp>
        <p:nvSpPr>
          <p:cNvPr id="33" name="Text 30"/>
          <p:cNvSpPr/>
          <p:nvPr/>
        </p:nvSpPr>
        <p:spPr>
          <a:xfrm>
            <a:off x="6446520" y="4462272"/>
            <a:ext cx="2971800" cy="502920"/>
          </a:xfrm>
          <a:prstGeom prst="roundRect">
            <a:avLst>
              <a:gd name="adj" fmla="val 12727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语言线：等级・词汇・语法・注释</a:t>
            </a:r>
            <a:endParaRPr lang="en-US" sz="1120" dirty="0"/>
          </a:p>
        </p:txBody>
      </p:sp>
      <p:sp>
        <p:nvSpPr>
          <p:cNvPr id="34" name="Text 31"/>
          <p:cNvSpPr/>
          <p:nvPr/>
        </p:nvSpPr>
        <p:spPr>
          <a:xfrm>
            <a:off x="1920240" y="5532120"/>
            <a:ext cx="841248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生成不是终点；生成后的验证、修正与记录才让系统具有研究价值。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模块一：Chunking 以叙事单位优先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长篇文学的基本单位应是 scene，而不是任意 token block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4360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1973961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预处理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3353562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6E9E9"/>
          </a:solidFill>
          <a:ln w="8890">
            <a:solidFill>
              <a:srgbClr val="B000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Scene Chunking</a:t>
            </a:r>
            <a:endParaRPr lang="en-US" sz="660" dirty="0"/>
          </a:p>
        </p:txBody>
      </p:sp>
      <p:sp>
        <p:nvSpPr>
          <p:cNvPr id="13" name="Text 10"/>
          <p:cNvSpPr/>
          <p:nvPr/>
        </p:nvSpPr>
        <p:spPr>
          <a:xfrm>
            <a:off x="4733163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Story Bible</a:t>
            </a:r>
            <a:endParaRPr lang="en-US" sz="660" dirty="0"/>
          </a:p>
        </p:txBody>
      </p:sp>
      <p:sp>
        <p:nvSpPr>
          <p:cNvPr id="14" name="Text 11"/>
          <p:cNvSpPr/>
          <p:nvPr/>
        </p:nvSpPr>
        <p:spPr>
          <a:xfrm>
            <a:off x="6112764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Level Profile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7492365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Edit Decision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8871966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改编</a:t>
            </a:r>
            <a:endParaRPr lang="en-US" sz="660" dirty="0"/>
          </a:p>
        </p:txBody>
      </p:sp>
      <p:sp>
        <p:nvSpPr>
          <p:cNvPr id="17" name="Text 14"/>
          <p:cNvSpPr/>
          <p:nvPr/>
        </p:nvSpPr>
        <p:spPr>
          <a:xfrm>
            <a:off x="10251567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822960" y="1920240"/>
            <a:ext cx="219456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固定长度切分的问题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0120" y="2377440"/>
            <a:ext cx="40233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8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打断对话：问题与回答分离
</a:t>
            </a:r>
            <a:endParaRPr lang="en-US" sz="1380" dirty="0"/>
          </a:p>
          <a:p>
            <a:r>
              <a:rPr lang="en-US" sz="138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打断心理变化：情绪线不连续
</a:t>
            </a:r>
            <a:endParaRPr lang="en-US" sz="1380" dirty="0"/>
          </a:p>
          <a:p>
            <a:r>
              <a:rPr lang="en-US" sz="138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打断地点/时间转换
</a:t>
            </a:r>
            <a:endParaRPr lang="en-US" sz="1380" dirty="0"/>
          </a:p>
          <a:p>
            <a:r>
              <a:rPr lang="en-US" sz="138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打断意象与伏笔</a:t>
            </a:r>
            <a:endParaRPr lang="en-US" sz="1380" dirty="0"/>
          </a:p>
        </p:txBody>
      </p:sp>
      <p:sp>
        <p:nvSpPr>
          <p:cNvPr id="20" name="Text 17"/>
          <p:cNvSpPr/>
          <p:nvPr/>
        </p:nvSpPr>
        <p:spPr>
          <a:xfrm>
            <a:off x="6446520" y="192024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Scene 定义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83680" y="2377440"/>
            <a:ext cx="40233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8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时间、地点、人物相对稳定
</a:t>
            </a:r>
            <a:endParaRPr lang="en-US" sz="1380" dirty="0"/>
          </a:p>
          <a:p>
            <a:r>
              <a:rPr lang="en-US" sz="138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叙事目标相对一致
</a:t>
            </a:r>
            <a:endParaRPr lang="en-US" sz="1380" dirty="0"/>
          </a:p>
          <a:p>
            <a:r>
              <a:rPr lang="en-US" sz="138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情绪基调相对连续
</a:t>
            </a:r>
            <a:endParaRPr lang="en-US" sz="1380" dirty="0"/>
          </a:p>
          <a:p>
            <a:r>
              <a:rPr lang="en-US" sz="138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可作为完整改编单位</a:t>
            </a:r>
            <a:endParaRPr lang="en-US" sz="1380" dirty="0"/>
          </a:p>
        </p:txBody>
      </p:sp>
      <p:sp>
        <p:nvSpPr>
          <p:cNvPr id="22" name="Text 19"/>
          <p:cNvSpPr/>
          <p:nvPr/>
        </p:nvSpPr>
        <p:spPr>
          <a:xfrm>
            <a:off x="1920240" y="4709160"/>
            <a:ext cx="1514246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Book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452774" y="500634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3599078" y="4709160"/>
            <a:ext cx="1514246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131613" y="500634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5277917" y="4709160"/>
            <a:ext cx="1514246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810451" y="500634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6956755" y="4709160"/>
            <a:ext cx="1514246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Paragraph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Group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489290" y="500634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8635594" y="4709160"/>
            <a:ext cx="1514246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Sentence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325880" y="5577840"/>
            <a:ext cx="9509760" cy="320040"/>
          </a:xfrm>
          <a:prstGeom prst="roundRect">
            <a:avLst>
              <a:gd name="adj" fmla="val 11429"/>
            </a:avLst>
          </a:prstGeom>
          <a:solidFill>
            <a:srgbClr val="F7F7F7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{ scene_id: "ch01_sc03", characters: ["私", "先生"], location: "海岸", function: "私が先生に興味を持ち始める" }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模块二：Story Bible 维护长篇一致性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让模型知道“这个故事已经发生了什么、不能改变什么”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4360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1973961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预处理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3353562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Scene Chunking</a:t>
            </a:r>
            <a:endParaRPr lang="en-US" sz="660" dirty="0"/>
          </a:p>
        </p:txBody>
      </p:sp>
      <p:sp>
        <p:nvSpPr>
          <p:cNvPr id="13" name="Text 10"/>
          <p:cNvSpPr/>
          <p:nvPr/>
        </p:nvSpPr>
        <p:spPr>
          <a:xfrm>
            <a:off x="4733163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6E9E9"/>
          </a:solidFill>
          <a:ln w="8890">
            <a:solidFill>
              <a:srgbClr val="B000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Story Bible</a:t>
            </a:r>
            <a:endParaRPr lang="en-US" sz="660" dirty="0"/>
          </a:p>
        </p:txBody>
      </p:sp>
      <p:sp>
        <p:nvSpPr>
          <p:cNvPr id="14" name="Text 11"/>
          <p:cNvSpPr/>
          <p:nvPr/>
        </p:nvSpPr>
        <p:spPr>
          <a:xfrm>
            <a:off x="6112764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Level Profile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7492365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Edit Decision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8871966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改编</a:t>
            </a:r>
            <a:endParaRPr lang="en-US" sz="660" dirty="0"/>
          </a:p>
        </p:txBody>
      </p:sp>
      <p:sp>
        <p:nvSpPr>
          <p:cNvPr id="17" name="Text 14"/>
          <p:cNvSpPr/>
          <p:nvPr/>
        </p:nvSpPr>
        <p:spPr>
          <a:xfrm>
            <a:off x="10251567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822960" y="1828800"/>
            <a:ext cx="5166360" cy="3749040"/>
          </a:xfrm>
          <a:prstGeom prst="roundRect">
            <a:avLst>
              <a:gd name="adj" fmla="val 976"/>
            </a:avLst>
          </a:prstGeom>
          <a:solidFill>
            <a:srgbClr val="F7F7F7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"characters":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"先生": 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"aliases": ["先生"],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"speech_style": "短く、静かで、含みのある話し方",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"do_not_change": ["感情を直接説明しすぎない"]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},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"terms": { "下宿": "保留，初出注释，不改为アパート" },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"motifs": ["孤独", "罪悪感", "沈黙"],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"open_threads": ["先生が人と距離を置く理由"]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6446520" y="182880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用途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83680" y="2286000"/>
            <a:ext cx="43891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人物称呼一致：先生 ≠ 教師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术语一致：下宿不随意改成アパート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人物语气一致：先生保持含蓄沉静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伏笔管理：不提前说明秘密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主题词稳定：孤独、罪悪感、沈黙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46520" y="4983480"/>
            <a:ext cx="4389120" cy="411480"/>
          </a:xfrm>
          <a:prstGeom prst="rect">
            <a:avLst/>
          </a:prstGeom>
          <a:solidFill>
            <a:srgbClr val="FAF2F2"/>
          </a:solidFill>
          <a:ln w="10160">
            <a:solidFill>
              <a:srgbClr val="F6E9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每次调用只载入相关条目，避免上下文无限膨胀。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模块三：Level Profile 兼顾生成指导与验证约束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生成时给模型方向，验证时用资源库严格检查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4360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1973961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预处理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3353562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Scene Chunking</a:t>
            </a:r>
            <a:endParaRPr lang="en-US" sz="660" dirty="0"/>
          </a:p>
        </p:txBody>
      </p:sp>
      <p:sp>
        <p:nvSpPr>
          <p:cNvPr id="13" name="Text 10"/>
          <p:cNvSpPr/>
          <p:nvPr/>
        </p:nvSpPr>
        <p:spPr>
          <a:xfrm>
            <a:off x="4733163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Story Bible</a:t>
            </a:r>
            <a:endParaRPr lang="en-US" sz="660" dirty="0"/>
          </a:p>
        </p:txBody>
      </p:sp>
      <p:sp>
        <p:nvSpPr>
          <p:cNvPr id="14" name="Text 11"/>
          <p:cNvSpPr/>
          <p:nvPr/>
        </p:nvSpPr>
        <p:spPr>
          <a:xfrm>
            <a:off x="6112764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6E9E9"/>
          </a:solidFill>
          <a:ln w="8890">
            <a:solidFill>
              <a:srgbClr val="B000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Level Profile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7492365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Edit Decision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8871966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改编</a:t>
            </a:r>
            <a:endParaRPr lang="en-US" sz="660" dirty="0"/>
          </a:p>
        </p:txBody>
      </p:sp>
      <p:sp>
        <p:nvSpPr>
          <p:cNvPr id="17" name="Text 14"/>
          <p:cNvSpPr/>
          <p:nvPr/>
        </p:nvSpPr>
        <p:spPr>
          <a:xfrm>
            <a:off x="10251567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868680" y="1874520"/>
            <a:ext cx="205740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生成阶段：轻指导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" y="2331720"/>
            <a:ext cx="42062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给出目标读者能力描述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给出语法与词汇处理原则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 few-shot 示例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避免把词库当死板白名单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400800" y="1874520"/>
            <a:ext cx="205740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验证阶段：强约束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37960" y="2331720"/>
            <a:ext cx="42062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使用词汇/语法 profile 计算阅读负荷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检查超等级普通词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检查复杂语法残留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检查必要注释是否覆盖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828800" y="4434840"/>
            <a:ext cx="8412480" cy="1143000"/>
          </a:xfrm>
          <a:prstGeom prst="roundRect">
            <a:avLst>
              <a:gd name="adj" fmla="val 3200"/>
            </a:avLst>
          </a:prstGeom>
          <a:solidFill>
            <a:srgbClr val="F7F7F7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level: N3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grammar: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prefer: [〜ている, 〜ために, 〜かもしれない]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avoid: [〜ざるを得ない, 〜に際して, 〜ことなく]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vocabulary: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preferred: N3 or below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allow_above_level_if: [proper_noun, cultural_term, theme_keyword]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annotation: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required_for_above_level_keywords: true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模块四：词汇—语法分离控制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词汇可以注释兜底，复杂语法更应该改写降负荷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1417320"/>
            <a:ext cx="1207008" cy="568234"/>
          </a:xfrm>
          <a:prstGeom prst="rect">
            <a:avLst/>
          </a:prstGeom>
          <a:solidFill>
            <a:srgbClr val="B00000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类型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29968" y="1417320"/>
            <a:ext cx="1700784" cy="568234"/>
          </a:xfrm>
          <a:prstGeom prst="rect">
            <a:avLst/>
          </a:prstGeom>
          <a:solidFill>
            <a:srgbClr val="B00000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例子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730752" y="1417320"/>
            <a:ext cx="2578608" cy="568234"/>
          </a:xfrm>
          <a:prstGeom prst="rect">
            <a:avLst/>
          </a:prstGeom>
          <a:solidFill>
            <a:srgbClr val="B00000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策略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" y="1985554"/>
            <a:ext cx="1207008" cy="56823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专有名词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029968" y="1985554"/>
            <a:ext cx="1700784" cy="56823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鎌倉、先生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730752" y="1985554"/>
            <a:ext cx="2578608" cy="56823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 + ふりがな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" y="2553789"/>
            <a:ext cx="1207008" cy="56823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文化词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29968" y="2553789"/>
            <a:ext cx="1700784" cy="56823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下宿、縁側、仏壇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730752" y="2553789"/>
            <a:ext cx="2578608" cy="56823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 + 短注释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" y="3122023"/>
            <a:ext cx="1207008" cy="56823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主题词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029968" y="3122023"/>
            <a:ext cx="1700784" cy="56823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罪悪感、孤独、沈黙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730752" y="3122023"/>
            <a:ext cx="2578608" cy="56823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 + 初出注释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22960" y="3690257"/>
            <a:ext cx="1207008" cy="56823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普通难词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029968" y="3690257"/>
            <a:ext cx="1700784" cy="56823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邂逅、容易ならぬ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730752" y="3690257"/>
            <a:ext cx="2578608" cy="56823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替换为目标等级表达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22960" y="4258491"/>
            <a:ext cx="1207008" cy="56823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复杂语法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029968" y="4258491"/>
            <a:ext cx="1700784" cy="56823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长连体修饰、双重否定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730752" y="4258491"/>
            <a:ext cx="2578608" cy="56823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拆分、改写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22960" y="4826726"/>
            <a:ext cx="1207008" cy="56823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文语表达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029968" y="4826726"/>
            <a:ext cx="1700784" cy="56823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〜せねばならぬ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730752" y="4826726"/>
            <a:ext cx="2578608" cy="56823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现代语化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315200" y="182880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テーマ語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保留注释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8686800" y="2084832"/>
            <a:ext cx="640080" cy="0"/>
          </a:xfrm>
          <a:prstGeom prst="line">
            <a:avLst/>
          </a:prstGeom>
          <a:noFill/>
          <a:ln w="1778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9464040" y="182880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文法構造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拆分改写</a:t>
            </a:r>
            <a:endParaRPr lang="en-US" sz="1120" dirty="0"/>
          </a:p>
        </p:txBody>
      </p:sp>
      <p:sp>
        <p:nvSpPr>
          <p:cNvPr id="34" name="Text 31"/>
          <p:cNvSpPr/>
          <p:nvPr/>
        </p:nvSpPr>
        <p:spPr>
          <a:xfrm>
            <a:off x="6812280" y="3154680"/>
            <a:ext cx="4480560" cy="685800"/>
          </a:xfrm>
          <a:prstGeom prst="rect">
            <a:avLst/>
          </a:prstGeom>
          <a:solidFill>
            <a:srgbClr val="FAF2F2"/>
          </a:solidFill>
          <a:ln w="10160">
            <a:solidFill>
              <a:srgbClr val="F6E9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例：罪悪感可以保留，但「胸の奥に長いあいだ沈んでいた」这类长修饰应按等级拆分。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812280" y="4297680"/>
            <a:ext cx="44805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这也是日语文学分级改编区别于普通词汇替换的关键。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模块五：最小必要改写与 Edit Decision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先判断“需不需要改”，再决定“怎么改”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4360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1973961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预处理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3353562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Scene Chunking</a:t>
            </a:r>
            <a:endParaRPr lang="en-US" sz="660" dirty="0"/>
          </a:p>
        </p:txBody>
      </p:sp>
      <p:sp>
        <p:nvSpPr>
          <p:cNvPr id="13" name="Text 10"/>
          <p:cNvSpPr/>
          <p:nvPr/>
        </p:nvSpPr>
        <p:spPr>
          <a:xfrm>
            <a:off x="4733163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Story Bible</a:t>
            </a:r>
            <a:endParaRPr lang="en-US" sz="660" dirty="0"/>
          </a:p>
        </p:txBody>
      </p:sp>
      <p:sp>
        <p:nvSpPr>
          <p:cNvPr id="14" name="Text 11"/>
          <p:cNvSpPr/>
          <p:nvPr/>
        </p:nvSpPr>
        <p:spPr>
          <a:xfrm>
            <a:off x="6112764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Level Profile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7492365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6E9E9"/>
          </a:solidFill>
          <a:ln w="8890">
            <a:solidFill>
              <a:srgbClr val="B000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Edit Decision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8871966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改编</a:t>
            </a:r>
            <a:endParaRPr lang="en-US" sz="660" dirty="0"/>
          </a:p>
        </p:txBody>
      </p:sp>
      <p:sp>
        <p:nvSpPr>
          <p:cNvPr id="17" name="Text 14"/>
          <p:cNvSpPr/>
          <p:nvPr/>
        </p:nvSpPr>
        <p:spPr>
          <a:xfrm>
            <a:off x="10251567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914400" y="2103120"/>
            <a:ext cx="1005840" cy="438912"/>
          </a:xfrm>
          <a:prstGeom prst="roundRect">
            <a:avLst>
              <a:gd name="adj" fmla="val 14583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原句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1965960" y="2322576"/>
            <a:ext cx="914400" cy="0"/>
          </a:xfrm>
          <a:prstGeom prst="line">
            <a:avLst/>
          </a:prstGeom>
          <a:noFill/>
          <a:ln w="1778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2971800" y="2103120"/>
            <a:ext cx="14630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难度诊断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4480560" y="2322576"/>
            <a:ext cx="914400" cy="0"/>
          </a:xfrm>
          <a:prstGeom prst="line">
            <a:avLst/>
          </a:prstGeom>
          <a:noFill/>
          <a:ln w="1778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5486400" y="2103120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与目标等级比较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7388352" y="2322576"/>
            <a:ext cx="841248" cy="0"/>
          </a:xfrm>
          <a:prstGeom prst="line">
            <a:avLst/>
          </a:prstGeom>
          <a:noFill/>
          <a:ln w="1778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8321040" y="2103120"/>
            <a:ext cx="1417320" cy="438912"/>
          </a:xfrm>
          <a:prstGeom prst="roundRect">
            <a:avLst>
              <a:gd name="adj" fmla="val 14583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动作决策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1143000" y="3337560"/>
            <a:ext cx="1508760" cy="621792"/>
          </a:xfrm>
          <a:prstGeom prst="roundRect">
            <a:avLst>
              <a:gd name="adj" fmla="val 10294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KEEP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703320" y="3337560"/>
            <a:ext cx="15087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ANNOTATE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保留注释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63640" y="3337560"/>
            <a:ext cx="1508760" cy="621792"/>
          </a:xfrm>
          <a:prstGeom prst="roundRect">
            <a:avLst>
              <a:gd name="adj" fmla="val 10294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REWRITE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替换表达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823960" y="3337560"/>
            <a:ext cx="15087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SPLIT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拆分句法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2011680" y="4846320"/>
            <a:ext cx="8138160" cy="82296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{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"source": "私は先生の家へ行きました。",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"target_level": "N1",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"decision": "KEEP",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"reason": "原文已经自然清楚，不需要为了N1增加复杂度"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8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模块六：Scene Plan 与 Prompt 工程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先理解场景，再改写文本；用 few-shot 固定风格边界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4360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1973961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预处理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3353562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Scene Chunking</a:t>
            </a:r>
            <a:endParaRPr lang="en-US" sz="660" dirty="0"/>
          </a:p>
        </p:txBody>
      </p:sp>
      <p:sp>
        <p:nvSpPr>
          <p:cNvPr id="13" name="Text 10"/>
          <p:cNvSpPr/>
          <p:nvPr/>
        </p:nvSpPr>
        <p:spPr>
          <a:xfrm>
            <a:off x="4733163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Story Bible</a:t>
            </a:r>
            <a:endParaRPr lang="en-US" sz="660" dirty="0"/>
          </a:p>
        </p:txBody>
      </p:sp>
      <p:sp>
        <p:nvSpPr>
          <p:cNvPr id="14" name="Text 11"/>
          <p:cNvSpPr/>
          <p:nvPr/>
        </p:nvSpPr>
        <p:spPr>
          <a:xfrm>
            <a:off x="6112764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Level Profile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7492365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Edit Decision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8871966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6E9E9"/>
          </a:solidFill>
          <a:ln w="8890">
            <a:solidFill>
              <a:srgbClr val="B000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改编</a:t>
            </a:r>
            <a:endParaRPr lang="en-US" sz="660" dirty="0"/>
          </a:p>
        </p:txBody>
      </p:sp>
      <p:sp>
        <p:nvSpPr>
          <p:cNvPr id="17" name="Text 14"/>
          <p:cNvSpPr/>
          <p:nvPr/>
        </p:nvSpPr>
        <p:spPr>
          <a:xfrm>
            <a:off x="10251567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777240" y="1828800"/>
            <a:ext cx="5303520" cy="2240280"/>
          </a:xfrm>
          <a:prstGeom prst="roundRect">
            <a:avLst>
              <a:gd name="adj" fmla="val 1633"/>
            </a:avLst>
          </a:prstGeom>
          <a:solidFill>
            <a:srgbClr val="F7F7F7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{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"core_events": ["私が先生に会う", "先生は多くを語らない"],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"must_keep": ["二人の距離感", "先生の沈黙"],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"literary_features": ["静かな語り", "直接説明しない心理描写"],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"rewrite_strategy": ["長い修飾を分ける", "テーマ語は注釈つきで保留"]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6446520" y="1828800"/>
            <a:ext cx="205740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Prompt 必须包含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83680" y="2304288"/>
            <a:ext cx="438912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目标读者与 Level Profile
</a:t>
            </a:r>
            <a:endParaRPr lang="en-US" sz="1250" dirty="0"/>
          </a:p>
          <a:p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相关 Story Bible 条目
</a:t>
            </a:r>
            <a:endParaRPr lang="en-US" sz="1250" dirty="0"/>
          </a:p>
          <a:p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Scene Plan
</a:t>
            </a:r>
            <a:endParaRPr lang="en-US" sz="1250" dirty="0"/>
          </a:p>
          <a:p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禁止事项：不摘要化、不儿童化、不主动升难
</a:t>
            </a:r>
            <a:endParaRPr lang="en-US" sz="1250" dirty="0"/>
          </a:p>
          <a:p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 JSON schema
</a:t>
            </a:r>
            <a:endParaRPr lang="en-US" sz="1250" dirty="0"/>
          </a:p>
          <a:p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few-shot：N5/N3/N1 对比例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737360" y="5166360"/>
            <a:ext cx="8778240" cy="438912"/>
          </a:xfrm>
          <a:prstGeom prst="rect">
            <a:avLst/>
          </a:prstGeom>
          <a:solidFill>
            <a:srgbClr val="FAF2F2"/>
          </a:solidFill>
          <a:ln w="10160">
            <a:solidFill>
              <a:srgbClr val="F6E9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few-shot 的作用：不是教模型“日语”，而是教模型“本研究期待的改编边界”。</a:t>
            </a:r>
            <a:endParaRPr lang="en-US" sz="13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模块七：点对点注释与结构化输出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注释绑定到具体 span，方便学习界面、评价与复用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1371600"/>
            <a:ext cx="5760720" cy="4800600"/>
          </a:xfrm>
          <a:prstGeom prst="roundRect">
            <a:avLst>
              <a:gd name="adj" fmla="val 762"/>
            </a:avLst>
          </a:prstGeom>
          <a:solidFill>
            <a:srgbClr val="F7F7F7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{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"scene_id": "ch01_sc03",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"target_level": "N3",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"adapted_blocks": [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{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"block_id": "b001",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"text": "先生の心の中には、長いあいだ消えない罪悪感がありました。",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"source_span": [120, 185]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}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],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"annotations": [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{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"ann_id": "a001",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"target_text": "罪悪感",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"span": [18, 21],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"type": "theme_keyword",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"reading": "ざいあくかん",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"explanation": "悪いことをしたと思って、苦しくなる気持ち。",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"level": "N2+",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"action": "keep_with_note"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}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]</a:t>
            </a:r>
            <a:endParaRPr lang="en-US" sz="690" dirty="0"/>
          </a:p>
          <a:p>
            <a:pPr marL="0" indent="0">
              <a:buNone/>
            </a:pPr>
            <a:r>
              <a:rPr lang="en-US" sz="69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690" dirty="0"/>
          </a:p>
        </p:txBody>
      </p:sp>
      <p:sp>
        <p:nvSpPr>
          <p:cNvPr id="11" name="Text 8"/>
          <p:cNvSpPr/>
          <p:nvPr/>
        </p:nvSpPr>
        <p:spPr>
          <a:xfrm>
            <a:off x="6903720" y="1508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为什么要结构化？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040880" y="1965960"/>
            <a:ext cx="41605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学习界面可点击显示注释
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可检查注释覆盖率
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同一词初出注释、后续复用
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可统计每等级注释密度
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可追踪原文 span 与改编文本对应关系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12280" y="4983480"/>
            <a:ext cx="4251960" cy="548640"/>
          </a:xfrm>
          <a:prstGeom prst="rect">
            <a:avLst/>
          </a:prstGeom>
          <a:solidFill>
            <a:srgbClr val="FAF2F2"/>
          </a:solidFill>
          <a:ln w="10160">
            <a:solidFill>
              <a:srgbClr val="F6E9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注意：注释本身也要符合目标等级。N5 注释不能写成 N1 论文腔。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模块八：Validation 三层结构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生成阶段可以宽松，验证阶段必须严格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4360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1973961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预处理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3353562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Scene Chunking</a:t>
            </a:r>
            <a:endParaRPr lang="en-US" sz="660" dirty="0"/>
          </a:p>
        </p:txBody>
      </p:sp>
      <p:sp>
        <p:nvSpPr>
          <p:cNvPr id="13" name="Text 10"/>
          <p:cNvSpPr/>
          <p:nvPr/>
        </p:nvSpPr>
        <p:spPr>
          <a:xfrm>
            <a:off x="4733163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Story Bible</a:t>
            </a:r>
            <a:endParaRPr lang="en-US" sz="660" dirty="0"/>
          </a:p>
        </p:txBody>
      </p:sp>
      <p:sp>
        <p:nvSpPr>
          <p:cNvPr id="14" name="Text 11"/>
          <p:cNvSpPr/>
          <p:nvPr/>
        </p:nvSpPr>
        <p:spPr>
          <a:xfrm>
            <a:off x="6112764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Level Profile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7492365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Edit Decision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8871966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7F7F7"/>
          </a:solidFill>
          <a:ln w="8890">
            <a:solidFill>
              <a:srgbClr val="DDDDD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改编</a:t>
            </a:r>
            <a:endParaRPr lang="en-US" sz="660" dirty="0"/>
          </a:p>
        </p:txBody>
      </p:sp>
      <p:sp>
        <p:nvSpPr>
          <p:cNvPr id="17" name="Text 14"/>
          <p:cNvSpPr/>
          <p:nvPr/>
        </p:nvSpPr>
        <p:spPr>
          <a:xfrm>
            <a:off x="10251567" y="1234440"/>
            <a:ext cx="1315593" cy="384048"/>
          </a:xfrm>
          <a:prstGeom prst="roundRect">
            <a:avLst>
              <a:gd name="adj" fmla="val 9524"/>
            </a:avLst>
          </a:prstGeom>
          <a:solidFill>
            <a:srgbClr val="F6E9E9"/>
          </a:solidFill>
          <a:ln w="8890">
            <a:solidFill>
              <a:srgbClr val="B000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3840480" y="1828800"/>
            <a:ext cx="4480560" cy="685800"/>
          </a:xfrm>
          <a:prstGeom prst="roundRect">
            <a:avLst>
              <a:gd name="adj" fmla="val 9333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Macro Validation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章节/全书：连续性、术语一致、伏笔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251960" y="2788920"/>
            <a:ext cx="36576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Meso Validation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场景：情节、人物、心理、文学性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63440" y="3749040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Micro Validation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句子/词汇：词汇、语法、句长、注释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80760" y="3703320"/>
            <a:ext cx="0" cy="0"/>
          </a:xfrm>
          <a:prstGeom prst="line">
            <a:avLst/>
          </a:prstGeom>
          <a:noFill/>
          <a:ln w="1270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080760" y="2743200"/>
            <a:ext cx="0" cy="0"/>
          </a:xfrm>
          <a:prstGeom prst="line">
            <a:avLst/>
          </a:prstGeom>
          <a:noFill/>
          <a:ln w="1270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1874520" y="5120640"/>
            <a:ext cx="841248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模拟目标读者的阅读负荷，也检查模型是否破坏了故事与文学性。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Micro Validation：易读性评分与目标区间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不是越简单越好，而是落入目标读者的可读区间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1508760"/>
            <a:ext cx="5029200" cy="2194560"/>
          </a:xfrm>
          <a:prstGeom prst="roundRect">
            <a:avLst>
              <a:gd name="adj" fmla="val 1667"/>
            </a:avLst>
          </a:prstGeom>
          <a:solidFill>
            <a:srgbClr val="F7F7F7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ReadabilityBurden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α × OutOfLevelVocab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+ β × OutOfLevelGrammar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+ γ × SentenceLengthPenalty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+ δ × KanjiBurden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+ ε × UnannotatedKeywordPenalty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LevelFitScore = 100 − ReadabilityBurden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37960" y="164592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得分过低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可能偏难：N2/N1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8641080" y="164592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目标区间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适度挑战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6537960" y="274320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得分过高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可能过简：N4/N5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6492240" y="4023360"/>
            <a:ext cx="41148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例：目标 N3 时，70～85 可能合适；&lt;70 偏难，&gt;90 可能过度简化。阈值需由实验校准。</a:t>
            </a:r>
            <a:endParaRPr lang="en-US" sz="1230" dirty="0"/>
          </a:p>
        </p:txBody>
      </p:sp>
      <p:sp>
        <p:nvSpPr>
          <p:cNvPr id="15" name="Text 12"/>
          <p:cNvSpPr/>
          <p:nvPr/>
        </p:nvSpPr>
        <p:spPr>
          <a:xfrm>
            <a:off x="1097280" y="5120640"/>
            <a:ext cx="9966960" cy="502920"/>
          </a:xfrm>
          <a:prstGeom prst="rect">
            <a:avLst/>
          </a:prstGeom>
          <a:solidFill>
            <a:srgbClr val="FAF2F2"/>
          </a:solidFill>
          <a:ln w="10160">
            <a:solidFill>
              <a:srgbClr val="F6E9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微观复用：已验证的词汇替换、语法拆分、注释模板可以复用；宏观场景不宜直接复用。</a:t>
            </a:r>
            <a:endParaRPr lang="en-US" sz="13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Meso / Macro Validation：文学文本不能只看词汇难度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故事、人物与文学性是日语文学改编的核心评价对象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1417320"/>
            <a:ext cx="1408176" cy="624840"/>
          </a:xfrm>
          <a:prstGeom prst="rect">
            <a:avLst/>
          </a:prstGeom>
          <a:solidFill>
            <a:srgbClr val="B00000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层级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139696" y="1417320"/>
            <a:ext cx="1984248" cy="624840"/>
          </a:xfrm>
          <a:prstGeom prst="rect">
            <a:avLst/>
          </a:prstGeom>
          <a:solidFill>
            <a:srgbClr val="B00000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检查项目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123944" y="1417320"/>
            <a:ext cx="3008376" cy="624840"/>
          </a:xfrm>
          <a:prstGeom prst="rect">
            <a:avLst/>
          </a:prstGeom>
          <a:solidFill>
            <a:srgbClr val="B00000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31520" y="2042160"/>
            <a:ext cx="1408176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Meso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139696" y="2042160"/>
            <a:ext cx="1984248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核心事件覆盖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123944" y="2042160"/>
            <a:ext cx="3008376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scene plan 对照 / 内容单位覆盖率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31520" y="2667000"/>
            <a:ext cx="1408176" cy="62484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Meso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139696" y="2667000"/>
            <a:ext cx="1984248" cy="62484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人物心理与对话功能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123944" y="2667000"/>
            <a:ext cx="3008376" cy="62484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原文—改编对照 / QA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31520" y="3291840"/>
            <a:ext cx="1408176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Meso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139696" y="3291840"/>
            <a:ext cx="1984248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文学性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123944" y="3291840"/>
            <a:ext cx="3008376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 + LLM rubric：视角、声音、氛围、意象、含蓄性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31520" y="3916680"/>
            <a:ext cx="1408176" cy="62484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Macro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139696" y="3916680"/>
            <a:ext cx="1984248" cy="62484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术语与称呼一致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123944" y="3916680"/>
            <a:ext cx="3008376" cy="62484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glossary / story bible 检查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31520" y="4541520"/>
            <a:ext cx="1408176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Macro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139696" y="4541520"/>
            <a:ext cx="1984248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伏笔与时间线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123944" y="4541520"/>
            <a:ext cx="3008376" cy="62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 threads / chapter summary 对照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818120" y="1554480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文学性 rubric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001000" y="2057400"/>
            <a:ext cx="30175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叙述视角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人物声音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氛围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意象复现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含蓄性与留白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7543800" y="4343400"/>
            <a:ext cx="3429000" cy="640080"/>
          </a:xfrm>
          <a:prstGeom prst="rect">
            <a:avLst/>
          </a:prstGeom>
          <a:solidFill>
            <a:srgbClr val="FAF2F2"/>
          </a:solidFill>
          <a:ln w="10160">
            <a:solidFill>
              <a:srgbClr val="F6E9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例：先生的“沉默”不应总被改成“先生很悲伤，所以不说话”。</a:t>
            </a:r>
            <a:endParaRPr lang="en-US" sz="12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模块九：Revision Loop 只改问题点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局部修正可以减少二次破坏和 token 成本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Report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2240280" y="2651760"/>
            <a:ext cx="685800" cy="0"/>
          </a:xfrm>
          <a:prstGeom prst="line">
            <a:avLst/>
          </a:prstGeom>
          <a:noFill/>
          <a:ln w="1778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3063240" y="2148840"/>
            <a:ext cx="1325880" cy="914400"/>
          </a:xfrm>
          <a:prstGeom prst="roundRect">
            <a:avLst>
              <a:gd name="adj" fmla="val 7000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等级过高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替换/拆句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4416552" y="2606040"/>
            <a:ext cx="182880" cy="0"/>
          </a:xfrm>
          <a:prstGeom prst="line">
            <a:avLst/>
          </a:prstGeom>
          <a:noFill/>
          <a:ln w="1016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4663440" y="2148840"/>
            <a:ext cx="13258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注释不足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补注释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6016752" y="2606040"/>
            <a:ext cx="182880" cy="0"/>
          </a:xfrm>
          <a:prstGeom prst="line">
            <a:avLst/>
          </a:prstGeom>
          <a:noFill/>
          <a:ln w="1016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6263640" y="2148840"/>
            <a:ext cx="1325880" cy="914400"/>
          </a:xfrm>
          <a:prstGeom prst="roundRect">
            <a:avLst>
              <a:gd name="adj" fmla="val 7000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内容遗漏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补事件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7616952" y="2606040"/>
            <a:ext cx="182880" cy="0"/>
          </a:xfrm>
          <a:prstGeom prst="line">
            <a:avLst/>
          </a:prstGeom>
          <a:noFill/>
          <a:ln w="1016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7863840" y="2148840"/>
            <a:ext cx="13258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文学性下降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恢复意象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9217152" y="2606040"/>
            <a:ext cx="182880" cy="0"/>
          </a:xfrm>
          <a:prstGeom prst="line">
            <a:avLst/>
          </a:prstGeom>
          <a:noFill/>
          <a:ln w="1016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9464040" y="2148840"/>
            <a:ext cx="1325880" cy="914400"/>
          </a:xfrm>
          <a:prstGeom prst="roundRect">
            <a:avLst>
              <a:gd name="adj" fmla="val 7000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不必要改写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恢复原句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10972800" y="2606040"/>
            <a:ext cx="0" cy="1143000"/>
          </a:xfrm>
          <a:prstGeom prst="line">
            <a:avLst/>
          </a:prstGeom>
          <a:noFill/>
          <a:ln w="1270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9692640" y="397764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局部修正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最多 2～3 轮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1828800" y="5074920"/>
            <a:ext cx="8412480" cy="502920"/>
          </a:xfrm>
          <a:prstGeom prst="rect">
            <a:avLst/>
          </a:prstGeom>
          <a:solidFill>
            <a:srgbClr val="FAF2F2"/>
          </a:solidFill>
          <a:ln w="10160">
            <a:solidFill>
              <a:srgbClr val="F6E9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Revision prompt：只修改报告指出的问题，其余句子保持不变。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Demo：语法拆分与主题词保留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不同等级不是简单“越低越短，越高越难”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128016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原文式表达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1719072"/>
            <a:ext cx="1056132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先生の胸の奥に長いあいだ沈んでいた罪悪感を、私はまだ知ることができなかった。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685800" y="251460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N5 方向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2907792"/>
            <a:ext cx="3291840" cy="960120"/>
          </a:xfrm>
          <a:prstGeom prst="rect">
            <a:avLst/>
          </a:prstGeom>
          <a:solidFill>
            <a:srgbClr val="FAF2F2"/>
          </a:solidFill>
          <a:ln w="10160">
            <a:solidFill>
              <a:srgbClr val="F6E9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先生の心の中には、長いあいだ、苦しい気持ちがありました。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でも、私はまだそれを知りませんでした。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4480560" y="251460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N3 方向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17720" y="2907792"/>
            <a:ext cx="333756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先生の心の中には、長いあいだ消えない罪悪感がありました。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私は、そのことをまだ知りませんでした。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注：罪悪感＝悪いことをしたと思って、苦しくなる気持ち。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321040" y="251460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N1 方向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458200" y="2907792"/>
            <a:ext cx="2926080" cy="960120"/>
          </a:xfrm>
          <a:prstGeom prst="rect">
            <a:avLst/>
          </a:prstGeom>
          <a:solidFill>
            <a:srgbClr val="FAF2F2"/>
          </a:solidFill>
          <a:ln w="10160">
            <a:solidFill>
              <a:srgbClr val="F6E9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先生の胸の奥に、長いあいだ沈んでいた罪悪感があった。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しかし私は、そのことをまだ知らなかった。</a:t>
            </a:r>
            <a:endParaRPr lang="en-US" sz="1030" dirty="0"/>
          </a:p>
        </p:txBody>
      </p:sp>
      <p:sp>
        <p:nvSpPr>
          <p:cNvPr id="18" name="Text 15"/>
          <p:cNvSpPr/>
          <p:nvPr/>
        </p:nvSpPr>
        <p:spPr>
          <a:xfrm>
            <a:off x="1691640" y="5074920"/>
            <a:ext cx="882396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0000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策略差异：N5 解释主题词；N3 保留主题词并注释；N1 保留文学表达，仅轻度拆句。</a:t>
            </a:r>
            <a:endParaRPr lang="en-US" sz="13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实验设计：要证明流水线真的有效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从等级控制、文学保持、模型成本三个方向验证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1417320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783080" y="14356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能否生成可区分的 N1 / N3 / N5 版本？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868680" y="2075688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783080" y="209397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词汇—语法分离控制是否优于严格白名单？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868680" y="2734056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783080" y="275234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Story Bible 是否提升长篇一致性？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868680" y="3392424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783080" y="341071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Validation loop 是否提升最终质量？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68680" y="4050792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78308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不同模型在质量、成本、稳定性上有何差异？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868680" y="512064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建议初始规模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743200" y="51389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2～3 部公有领域作品 × 每部 5～10 个 scene × N1/N3/N5 × 多模型 × 多方法 × 2～3 次重复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控制变量：保证比较公平、实验可复现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模型比较时不能让 prompt、chunk、参数一起变化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1417320"/>
            <a:ext cx="1783080" cy="627017"/>
          </a:xfrm>
          <a:prstGeom prst="rect">
            <a:avLst/>
          </a:prstGeom>
          <a:solidFill>
            <a:srgbClr val="B00000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变量类型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2651760" y="1417320"/>
            <a:ext cx="5074920" cy="627017"/>
          </a:xfrm>
          <a:prstGeom prst="rect">
            <a:avLst/>
          </a:prstGeom>
          <a:solidFill>
            <a:srgbClr val="B00000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应控制/记录的内容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868680" y="2044337"/>
            <a:ext cx="178308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文本变量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2651760" y="2044337"/>
            <a:ext cx="507492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同一作品、同一 scene、同一目标等级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68680" y="2671354"/>
            <a:ext cx="1783080" cy="627017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流程变量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2651760" y="2671354"/>
            <a:ext cx="5074920" cy="627017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 chunk、同一 Story Bible、同一 Level Profile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868680" y="3298371"/>
            <a:ext cx="178308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Prompt 变量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2651760" y="3298371"/>
            <a:ext cx="507492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同一模板，只替换目标等级/模型名称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868680" y="3925389"/>
            <a:ext cx="1783080" cy="627017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模型参数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2651760" y="3925389"/>
            <a:ext cx="5074920" cy="627017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temperature、top_p、max_tokens、seed（若支持）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868680" y="4552406"/>
            <a:ext cx="178308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重复实验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2651760" y="4552406"/>
            <a:ext cx="507492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每个条件至少 2～3 次，记录均值与方差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868680" y="5179423"/>
            <a:ext cx="1783080" cy="627017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输出日志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2651760" y="5179423"/>
            <a:ext cx="5074920" cy="627017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原始输出、validation 报告、修正历史、失败原因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8229600" y="160020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实验方法对照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412480" y="2057400"/>
            <a:ext cx="28346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Direct Prompt
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Scene Plan
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Scene Plan + Story Bible
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Pipeline
</a:t>
            </a:r>
            <a:endParaRPr lang="en-US" sz="1300" dirty="0"/>
          </a:p>
          <a:p>
            <a:r>
              <a:rPr lang="en-US" sz="13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Pipeline + Revision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评价指标：质量、学习支持、工程成本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不仅问“改得好不好”，还要问“贵不贵、稳不稳”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1417320"/>
            <a:ext cx="1711757" cy="620486"/>
          </a:xfrm>
          <a:prstGeom prst="rect">
            <a:avLst/>
          </a:prstGeom>
          <a:solidFill>
            <a:srgbClr val="B00000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大类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443277" y="1417320"/>
            <a:ext cx="4871923" cy="620486"/>
          </a:xfrm>
          <a:prstGeom prst="rect">
            <a:avLst/>
          </a:prstGeom>
          <a:solidFill>
            <a:srgbClr val="B00000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指标示例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2037806"/>
            <a:ext cx="1711757" cy="62048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等级适切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443277" y="2037806"/>
            <a:ext cx="4871923" cy="62048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词汇等级、语法等级、句长、汉字率、jReadability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31520" y="2658291"/>
            <a:ext cx="1711757" cy="620486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内容忠实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443277" y="2658291"/>
            <a:ext cx="4871923" cy="620486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内容单位覆盖率、幻觉新增数、QA 一致性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31520" y="3278777"/>
            <a:ext cx="1711757" cy="62048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文学性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443277" y="3278777"/>
            <a:ext cx="4871923" cy="62048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叙述视角、人物声音、氛围、意象、含蓄性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31520" y="3899263"/>
            <a:ext cx="1711757" cy="620486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连贯性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443277" y="3899263"/>
            <a:ext cx="4871923" cy="620486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术语一致、人物称呼、伏笔、时间线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31520" y="4519749"/>
            <a:ext cx="1711757" cy="62048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注释质量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443277" y="4519749"/>
            <a:ext cx="4871923" cy="62048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覆盖率、冗余率、注释自身难度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31520" y="5140234"/>
            <a:ext cx="1711757" cy="620486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成本稳定性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443277" y="5140234"/>
            <a:ext cx="4871923" cy="620486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tokens、费用、延迟、重试率、JSON 失败率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955280" y="4389120"/>
            <a:ext cx="27432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955280" y="4389120"/>
            <a:ext cx="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headEnd type="none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10469880" y="44805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726680" y="16642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375904" y="3525926"/>
            <a:ext cx="146304" cy="146304"/>
          </a:xfrm>
          <a:prstGeom prst="ellipse">
            <a:avLst/>
          </a:prstGeom>
          <a:solidFill>
            <a:srgbClr val="28734B"/>
          </a:solidFill>
          <a:ln w="12700">
            <a:solidFill>
              <a:srgbClr val="28734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522208" y="352592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低成本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9061704" y="2785262"/>
            <a:ext cx="146304" cy="146304"/>
          </a:xfrm>
          <a:prstGeom prst="ellipse">
            <a:avLst/>
          </a:prstGeom>
          <a:solidFill>
            <a:srgbClr val="315C99"/>
          </a:solidFill>
          <a:ln w="12700">
            <a:solidFill>
              <a:srgbClr val="315C9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08008" y="278526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中模型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10021824" y="2291486"/>
            <a:ext cx="146304" cy="146304"/>
          </a:xfrm>
          <a:prstGeom prst="ellipse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68128" y="229148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强模型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9198864" y="2587752"/>
            <a:ext cx="146304" cy="146304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345168" y="25877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级联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7498080" y="4846320"/>
            <a:ext cx="3749040" cy="530352"/>
          </a:xfrm>
          <a:prstGeom prst="rect">
            <a:avLst/>
          </a:prstGeom>
          <a:solidFill>
            <a:srgbClr val="FAF2F2"/>
          </a:solidFill>
          <a:ln w="10160">
            <a:solidFill>
              <a:srgbClr val="F6E9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理想结果：找到质量—成本的 Pareto 前沿，而不是只追求最强模型。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成本计算与可复现实验记录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完整系统必须记录 token、价格、模型版本与每轮输出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1417320"/>
            <a:ext cx="5669280" cy="2240280"/>
          </a:xfrm>
          <a:prstGeom prst="roundRect">
            <a:avLst>
              <a:gd name="adj" fmla="val 1633"/>
            </a:avLst>
          </a:prstGeom>
          <a:solidFill>
            <a:srgbClr val="F7F7F7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RawCost = InputTokens × InputPrice + OutputTokens × OutputPrice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ActualCost = FreshInputTokens × InputPrice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+ CachedInputTokens × CachedInputPrice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+ OutputTokens × OutputPrice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PipelineCost = Plan + Rewrite + MicroVal + MesoVal + Revision + MacroVal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CostPerAcceptedScene = TotalCost / AcceptedScenes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949440" y="141732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可复现记录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086600" y="1874520"/>
            <a:ext cx="425196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1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原文来源、版本、版权状态
</a:t>
            </a:r>
            <a:endParaRPr lang="en-US" sz="1150" dirty="0"/>
          </a:p>
          <a:p>
            <a:r>
              <a:rPr lang="en-US" sz="11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清洗脚本与切分结果
</a:t>
            </a:r>
            <a:endParaRPr lang="en-US" sz="1150" dirty="0"/>
          </a:p>
          <a:p>
            <a:r>
              <a:rPr lang="en-US" sz="11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prompt 模板与版本号
</a:t>
            </a:r>
            <a:endParaRPr lang="en-US" sz="1150" dirty="0"/>
          </a:p>
          <a:p>
            <a:r>
              <a:rPr lang="en-US" sz="11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level profile / 词库 / 语法库版本
</a:t>
            </a:r>
            <a:endParaRPr lang="en-US" sz="1150" dirty="0"/>
          </a:p>
          <a:p>
            <a:r>
              <a:rPr lang="en-US" sz="11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模型名称、版本、调用时间
</a:t>
            </a:r>
            <a:endParaRPr lang="en-US" sz="1150" dirty="0"/>
          </a:p>
          <a:p>
            <a:r>
              <a:rPr lang="en-US" sz="11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temperature、top_p、max_tokens
</a:t>
            </a:r>
            <a:endParaRPr lang="en-US" sz="1150" dirty="0"/>
          </a:p>
          <a:p>
            <a:r>
              <a:rPr lang="en-US" sz="11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token 用量、延迟、重试次数
</a:t>
            </a:r>
            <a:endParaRPr lang="en-US" sz="1150" dirty="0"/>
          </a:p>
          <a:p>
            <a:r>
              <a:rPr lang="en-US" sz="11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原始输出与 revision history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286000" y="5074920"/>
            <a:ext cx="7315200" cy="502920"/>
          </a:xfrm>
          <a:prstGeom prst="rect">
            <a:avLst/>
          </a:prstGeom>
          <a:solidFill>
            <a:srgbClr val="FAF2F2"/>
          </a:solidFill>
          <a:ln w="10160">
            <a:solidFill>
              <a:srgbClr val="F6E9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不是只保存最终文本，而是保存整个生成过程。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日语与文学性的特殊设计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这项研究不是把英语方案简单迁移到日语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137160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日语层面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1828800"/>
            <a:ext cx="42062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汉字负担与 furigana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敬体/常体与叙述文体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长连体修饰与省略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拟声拟态语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终助词与人物语气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92240" y="137160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文学层面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29400" y="1828800"/>
            <a:ext cx="42062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叙述视角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人物称呼与关系性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主题词和文化词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意象复现
</a:t>
            </a:r>
            <a:endParaRPr lang="en-US" sz="1350" dirty="0"/>
          </a:p>
          <a:p>
            <a:r>
              <a:rPr lang="en-US" sz="13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节奏、留白与含蓄性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645920" y="4800600"/>
            <a:ext cx="886968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B0000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关键取舍：低等级可以牺牲部分复杂文学表达，但不应把作品变成纯摘要或教材说明文。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不足与展望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从通用分级改编走向个性化文学阅读支持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141732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不足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1874520"/>
            <a:ext cx="47091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8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尚未完成百万字长篇全流程测试
</a:t>
            </a:r>
            <a:endParaRPr lang="en-US" sz="1280" dirty="0"/>
          </a:p>
          <a:p>
            <a:r>
              <a:rPr lang="en-US" sz="128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文学性自动评价仍依赖人工或 LLM judge
</a:t>
            </a:r>
            <a:endParaRPr lang="en-US" sz="1280" dirty="0"/>
          </a:p>
          <a:p>
            <a:r>
              <a:rPr lang="en-US" sz="128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词汇/语法 profile 来源会影响结论
</a:t>
            </a:r>
            <a:endParaRPr lang="en-US" sz="1280" dirty="0"/>
          </a:p>
          <a:p>
            <a:r>
              <a:rPr lang="en-US" sz="128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Story Bible 自动构建可能出错
</a:t>
            </a:r>
            <a:endParaRPr lang="en-US" sz="1280" dirty="0"/>
          </a:p>
          <a:p>
            <a:r>
              <a:rPr lang="en-US" sz="128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商业模型版本变化影响复现
</a:t>
            </a:r>
            <a:endParaRPr lang="en-US" sz="1280" dirty="0"/>
          </a:p>
          <a:p>
            <a:r>
              <a:rPr lang="en-US" sz="128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版权与语料选择需要谨慎</a:t>
            </a:r>
            <a:endParaRPr lang="en-US" sz="1280" dirty="0"/>
          </a:p>
        </p:txBody>
      </p:sp>
      <p:sp>
        <p:nvSpPr>
          <p:cNvPr id="12" name="Text 9"/>
          <p:cNvSpPr/>
          <p:nvPr/>
        </p:nvSpPr>
        <p:spPr>
          <a:xfrm>
            <a:off x="6446520" y="141732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B00000"/>
          </a:solidFill>
          <a:ln w="1270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展望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0" y="1874520"/>
            <a:ext cx="45720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开放词库接口，接入学习者个人词汇量
</a:t>
            </a:r>
            <a:endParaRPr lang="en-US" sz="1250" dirty="0"/>
          </a:p>
          <a:p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与阅读 App / 词汇学习系统联动
</a:t>
            </a:r>
            <a:endParaRPr lang="en-US" sz="1250" dirty="0"/>
          </a:p>
          <a:p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根据点击注释、查词记录更新用户画像
</a:t>
            </a:r>
            <a:endParaRPr lang="en-US" sz="1250" dirty="0"/>
          </a:p>
          <a:p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构建日语文学分级改编语料库
</a:t>
            </a:r>
            <a:endParaRPr lang="en-US" sz="1250" dirty="0"/>
          </a:p>
          <a:p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模型路由：低成本模型初稿，强模型验证修正
</a:t>
            </a:r>
            <a:endParaRPr lang="en-US" sz="1250" dirty="0"/>
          </a:p>
          <a:p>
            <a:r>
              <a:rPr lang="en-US" sz="12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扩展音频、插图、阅读问题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51560" y="5120640"/>
            <a:ext cx="1880006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用户学习记录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949854" y="539496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3096158" y="5120640"/>
            <a:ext cx="1880006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用户词库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94453" y="539496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5140757" y="5120640"/>
            <a:ext cx="1880006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个性化 Level Profile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039051" y="539496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7185355" y="5120640"/>
            <a:ext cx="1880006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SAGAP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9083650" y="5394960"/>
            <a:ext cx="118872" cy="0"/>
          </a:xfrm>
          <a:prstGeom prst="line">
            <a:avLst/>
          </a:prstGeom>
          <a:noFill/>
          <a:ln w="13970">
            <a:solidFill>
              <a:srgbClr val="B00000"/>
            </a:solidFill>
            <a:prstDash val="solid"/>
            <a:headEnd type="none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9229954" y="5120640"/>
            <a:ext cx="1880006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阅读反馈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好的分级改编是在目标等级内最大化文学保留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1645920"/>
            <a:ext cx="2926080" cy="777240"/>
          </a:xfrm>
          <a:prstGeom prst="roundRect">
            <a:avLst>
              <a:gd name="adj" fmla="val 8235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文学分级改编 ≠ 简单文本简化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617720" y="1645920"/>
            <a:ext cx="2926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有潜力，但需要结构化约束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75320" y="1645920"/>
            <a:ext cx="2926080" cy="777240"/>
          </a:xfrm>
          <a:prstGeom prst="roundRect">
            <a:avLst>
              <a:gd name="adj" fmla="val 8235"/>
            </a:avLst>
          </a:prstGeom>
          <a:solidFill>
            <a:srgbClr val="FAF2F2"/>
          </a:solidFill>
          <a:ln w="15240">
            <a:solidFill>
              <a:srgbClr val="B0000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SAGAP 让生成变得可控、可验证、可复现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828800" y="2971800"/>
            <a:ext cx="84124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Scene-aware Chunking 保护叙事单位
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Story Bible 维护长篇一致性
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词汇—语法分离控制兼顾文学词与可读性
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Micro / Meso / Macro validation 构成闭环
</a:t>
            </a:r>
            <a:endParaRPr lang="en-US" sz="1500" dirty="0"/>
          </a:p>
          <a:p>
            <a:r>
              <a:rPr lang="en-US" sz="150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质量、成本、稳定性共同评价系统可行性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331720" y="5257800"/>
            <a:ext cx="7498080" cy="713232"/>
          </a:xfrm>
          <a:prstGeom prst="rect">
            <a:avLst/>
          </a:prstGeom>
          <a:solidFill>
            <a:srgbClr val="FAF2F2"/>
          </a:solidFill>
          <a:ln w="10160">
            <a:solidFill>
              <a:srgbClr val="F6E9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可读性 ≠ 简单化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好的分级改编 = 目标等级内的最大文学保留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2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× 日语文学分级改编</a:t>
            </a:r>
            <a:endParaRPr lang="en-US" sz="850" dirty="0"/>
          </a:p>
        </p:txBody>
      </p:sp>
      <p:pic>
        <p:nvPicPr>
          <p:cNvPr id="4" name="Image 0" descr="/mnt/data/ppt_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15544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8272"/>
            <a:ext cx="12191695" cy="73152"/>
          </a:xfrm>
          <a:prstGeom prst="rect">
            <a:avLst/>
          </a:prstGeom>
          <a:solidFill>
            <a:srgbClr val="B0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65836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5303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参考文献与鸣谢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02920" y="960120"/>
            <a:ext cx="2743200" cy="0"/>
          </a:xfrm>
          <a:prstGeom prst="line">
            <a:avLst/>
          </a:prstGeom>
          <a:noFill/>
          <a:ln w="25400">
            <a:solidFill>
              <a:srgbClr val="B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课堂发表版本：列出最主要的研究基础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132588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JLPT. N1-N5: Summary of Linguistic Competence Required for Each Level.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777240" y="164592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JF Standard for Japanese-Language Education. Can-do based proficiency framework.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77240" y="196596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Alva-Manchego et al. 2025. Findings of the TSAR 2025 Shared Task on Readability-Controlled Text Simplification.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777240" y="22860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Farajidizaji, Raina &amp; Gales. 2024. Is It Possible to Modify Text to a Target Readability Level?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77240" y="260604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Huang, Wei &amp; Huang. 2024. Generating Educational Materials with Different Levels of Readability using LLMs.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777240" y="292608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 Fang et al. 2025. Progressive Document-level Text Simplification via Large Language Models.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777240" y="324612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7. Hayakawa et al. 2022. JADES: New Text Simplification Dataset in Japanese Targeted at Non-Native Speakers.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777240" y="356616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8. Nagai et al. 2024. A Document-Level Text Simplification Dataset for Japanese.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777240" y="38862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9. Hasebe &amp; Lee. 2015. Introducing a Readability Evaluation System for Japanese Language Education.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777240" y="420624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 Ide et al. 2023. Japanese Lexical Complexity for Non-Native Readers.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777240" y="452628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11. Nohejl et al. 2025. MultiLS-Japanese / Japanese lexical simplification and complexity prediction.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777240" y="484632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222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12. Uchida, Gifu University. AI-Generated Graded Readers project.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4480560" y="5897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谢谢大家。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2668</Words>
  <Application>Microsoft Macintosh PowerPoint</Application>
  <PresentationFormat>宽屏</PresentationFormat>
  <Paragraphs>758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8" baseType="lpstr">
      <vt:lpstr>Noto Sans CJK JP</vt:lpstr>
      <vt:lpstr>Noto Sans CJK SC</vt:lpstr>
      <vt:lpstr>Noto Sans Mono CJK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基于大语言模型的日本文学分级阅读材料生成研究与流水线设计</dc:title>
  <dc:subject>基于大语言模型的日本文学分级阅读材料生成研究与流水线设计</dc:subject>
  <dc:creator>OpenAI</dc:creator>
  <cp:lastModifiedBy>Kaho Tomori</cp:lastModifiedBy>
  <cp:revision>2</cp:revision>
  <dcterms:created xsi:type="dcterms:W3CDTF">2026-05-24T13:58:55Z</dcterms:created>
  <dcterms:modified xsi:type="dcterms:W3CDTF">2026-05-24T14:03:25Z</dcterms:modified>
</cp:coreProperties>
</file>